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117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858000" y="0"/>
            <a:ext cx="7144" cy="51435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7661672" y="1643955"/>
            <a:ext cx="6786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661672" y="1972568"/>
            <a:ext cx="67865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ACCURACY</a:t>
            </a:r>
            <a:endParaRPr lang="en-US" sz="516" dirty="0"/>
          </a:p>
        </p:txBody>
      </p:sp>
      <p:sp>
        <p:nvSpPr>
          <p:cNvPr id="7" name="Text 4"/>
          <p:cNvSpPr/>
          <p:nvPr/>
        </p:nvSpPr>
        <p:spPr>
          <a:xfrm>
            <a:off x="7629525" y="2360116"/>
            <a:ext cx="7429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7629525" y="2688729"/>
            <a:ext cx="7429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 PASSING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7800975" y="3076277"/>
            <a:ext cx="4000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7800975" y="3404890"/>
            <a:ext cx="4000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SERVERS</a:t>
            </a:r>
            <a:endParaRPr lang="en-US" sz="516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9144000" cy="3768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369689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Text 10"/>
          <p:cNvSpPr/>
          <p:nvPr/>
        </p:nvSpPr>
        <p:spPr>
          <a:xfrm>
            <a:off x="214313" y="128588"/>
            <a:ext cx="20484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V1.0 · 2025/2026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465094" y="133052"/>
            <a:ext cx="225028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PROJETO INTEGRADOR · SEGURANÇA CIBERNÉTICA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428625" y="1150674"/>
            <a:ext cx="6000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PLATAFORMA DE SEGURANÇA CIBERNÉTICA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28625" y="1406063"/>
            <a:ext cx="6000750" cy="5400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731" b="1" spc="-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</a:t>
            </a:r>
            <a:r>
              <a:rPr lang="en-US" sz="3731" b="1" spc="-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_SYS</a:t>
            </a:r>
            <a:endParaRPr lang="en-US" sz="3731" dirty="0"/>
          </a:p>
        </p:txBody>
      </p:sp>
      <p:sp>
        <p:nvSpPr>
          <p:cNvPr id="17" name="Text 14"/>
          <p:cNvSpPr/>
          <p:nvPr/>
        </p:nvSpPr>
        <p:spPr>
          <a:xfrm>
            <a:off x="428625" y="2360451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de Incidentes com Classificação Automática por Machine Learning — TF-IDF + Naive Bayes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3074826"/>
            <a:ext cx="1310878" cy="189309"/>
          </a:xfrm>
          <a:prstGeom prst="rect">
            <a:avLst/>
          </a:prstGeom>
          <a:solidFill>
            <a:srgbClr val="00B4D8">
              <a:alpha val="15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8625" y="3074826"/>
            <a:ext cx="1310878" cy="1893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19 + TypeScript</a:t>
            </a:r>
            <a:endParaRPr lang="en-US" sz="534" dirty="0"/>
          </a:p>
        </p:txBody>
      </p:sp>
      <p:sp>
        <p:nvSpPr>
          <p:cNvPr id="20" name="Shape 17"/>
          <p:cNvSpPr/>
          <p:nvPr/>
        </p:nvSpPr>
        <p:spPr>
          <a:xfrm>
            <a:off x="1810941" y="3074826"/>
            <a:ext cx="935831" cy="189309"/>
          </a:xfrm>
          <a:prstGeom prst="rect">
            <a:avLst/>
          </a:prstGeom>
          <a:solidFill>
            <a:srgbClr val="00B4D8">
              <a:alpha val="15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10941" y="3074826"/>
            <a:ext cx="935831" cy="1893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 + tRPC</a:t>
            </a:r>
            <a:endParaRPr lang="en-US" sz="534" dirty="0"/>
          </a:p>
        </p:txBody>
      </p:sp>
      <p:sp>
        <p:nvSpPr>
          <p:cNvPr id="22" name="Shape 19"/>
          <p:cNvSpPr/>
          <p:nvPr/>
        </p:nvSpPr>
        <p:spPr>
          <a:xfrm>
            <a:off x="2818209" y="3074826"/>
            <a:ext cx="828675" cy="189309"/>
          </a:xfrm>
          <a:prstGeom prst="rect">
            <a:avLst/>
          </a:prstGeom>
          <a:solidFill>
            <a:srgbClr val="00B4D8">
              <a:alpha val="15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18209" y="3074826"/>
            <a:ext cx="828675" cy="1893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TiDB / MySQL</a:t>
            </a:r>
            <a:endParaRPr lang="en-US" sz="534" dirty="0"/>
          </a:p>
        </p:txBody>
      </p:sp>
      <p:sp>
        <p:nvSpPr>
          <p:cNvPr id="24" name="Shape 21"/>
          <p:cNvSpPr/>
          <p:nvPr/>
        </p:nvSpPr>
        <p:spPr>
          <a:xfrm>
            <a:off x="3718322" y="3074826"/>
            <a:ext cx="1418034" cy="189309"/>
          </a:xfrm>
          <a:prstGeom prst="rect">
            <a:avLst/>
          </a:prstGeom>
          <a:solidFill>
            <a:srgbClr val="3FB950">
              <a:alpha val="15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322" y="3074826"/>
            <a:ext cx="1418034" cy="1893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scikit-learn · 97% Acc.</a:t>
            </a:r>
            <a:endParaRPr lang="en-US" sz="534" dirty="0"/>
          </a:p>
        </p:txBody>
      </p:sp>
      <p:sp>
        <p:nvSpPr>
          <p:cNvPr id="26" name="Shape 23"/>
          <p:cNvSpPr/>
          <p:nvPr/>
        </p:nvSpPr>
        <p:spPr>
          <a:xfrm>
            <a:off x="428625" y="3342717"/>
            <a:ext cx="1471613" cy="189309"/>
          </a:xfrm>
          <a:prstGeom prst="rect">
            <a:avLst/>
          </a:prstGeom>
          <a:solidFill>
            <a:srgbClr val="FF8A00">
              <a:alpha val="15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8625" y="3342717"/>
            <a:ext cx="1471613" cy="1893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 Testes Automatizados</a:t>
            </a:r>
            <a:endParaRPr lang="en-US" sz="534" dirty="0"/>
          </a:p>
        </p:txBody>
      </p:sp>
      <p:sp>
        <p:nvSpPr>
          <p:cNvPr id="28" name="Shape 25"/>
          <p:cNvSpPr/>
          <p:nvPr/>
        </p:nvSpPr>
        <p:spPr>
          <a:xfrm>
            <a:off x="0" y="4605933"/>
            <a:ext cx="9144000" cy="5375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0" y="4605933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0" name="Text 27"/>
          <p:cNvSpPr/>
          <p:nvPr/>
        </p:nvSpPr>
        <p:spPr>
          <a:xfrm>
            <a:off x="214313" y="4834533"/>
            <a:ext cx="342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</a:t>
            </a:r>
            <a:endParaRPr lang="en-US" sz="516" dirty="0"/>
          </a:p>
        </p:txBody>
      </p:sp>
      <p:sp>
        <p:nvSpPr>
          <p:cNvPr id="31" name="Text 28"/>
          <p:cNvSpPr/>
          <p:nvPr/>
        </p:nvSpPr>
        <p:spPr>
          <a:xfrm>
            <a:off x="947440" y="4767560"/>
            <a:ext cx="4911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785813" y="4901505"/>
            <a:ext cx="8143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Lead · Backend</a:t>
            </a:r>
            <a:endParaRPr lang="en-US" sz="516" dirty="0"/>
          </a:p>
        </p:txBody>
      </p:sp>
      <p:sp>
        <p:nvSpPr>
          <p:cNvPr id="33" name="Text 30"/>
          <p:cNvSpPr/>
          <p:nvPr/>
        </p:nvSpPr>
        <p:spPr>
          <a:xfrm>
            <a:off x="1899345" y="4767560"/>
            <a:ext cx="30182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1771650" y="4901505"/>
            <a:ext cx="55721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BD</a:t>
            </a:r>
            <a:endParaRPr lang="en-US" sz="516" dirty="0"/>
          </a:p>
        </p:txBody>
      </p:sp>
      <p:sp>
        <p:nvSpPr>
          <p:cNvPr id="35" name="Text 32"/>
          <p:cNvSpPr/>
          <p:nvPr/>
        </p:nvSpPr>
        <p:spPr>
          <a:xfrm>
            <a:off x="2637830" y="4767560"/>
            <a:ext cx="2821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2500313" y="4901505"/>
            <a:ext cx="55721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ML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3318272" y="4767560"/>
            <a:ext cx="2928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3228975" y="4901505"/>
            <a:ext cx="4714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Engineer</a:t>
            </a:r>
            <a:endParaRPr lang="en-US" sz="516" dirty="0"/>
          </a:p>
        </p:txBody>
      </p:sp>
      <p:sp>
        <p:nvSpPr>
          <p:cNvPr id="39" name="Text 36"/>
          <p:cNvSpPr/>
          <p:nvPr/>
        </p:nvSpPr>
        <p:spPr>
          <a:xfrm>
            <a:off x="6757988" y="4763095"/>
            <a:ext cx="195738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 de Desenvolvimento de Sistemas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6757988" y="4897041"/>
            <a:ext cx="19573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 / 2026</a:t>
            </a:r>
            <a:endParaRPr lang="en-US" sz="56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6144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429500" y="171450"/>
            <a:ext cx="12858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703659"/>
            <a:ext cx="43505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PANORAMA DE AMEAÇAS CIBERNÉTICAS — 2023/2024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357188" y="1055489"/>
            <a:ext cx="7143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+38%</a:t>
            </a:r>
            <a:endParaRPr lang="en-US" sz="2016" dirty="0"/>
          </a:p>
        </p:txBody>
      </p:sp>
      <p:sp>
        <p:nvSpPr>
          <p:cNvPr id="10" name="Text 7"/>
          <p:cNvSpPr/>
          <p:nvPr/>
        </p:nvSpPr>
        <p:spPr>
          <a:xfrm>
            <a:off x="1214438" y="1084064"/>
            <a:ext cx="3493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de Ataques Cibernéticos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214438" y="1250156"/>
            <a:ext cx="349329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Aumento global em 2023 segundo o IBM Security X-Force Threat Intelligence Index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357188" y="1764506"/>
            <a:ext cx="7143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4D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</a:t>
            </a:r>
            <a:endParaRPr lang="en-US" sz="2016" dirty="0"/>
          </a:p>
        </p:txBody>
      </p:sp>
      <p:sp>
        <p:nvSpPr>
          <p:cNvPr id="13" name="Text 10"/>
          <p:cNvSpPr/>
          <p:nvPr/>
        </p:nvSpPr>
        <p:spPr>
          <a:xfrm>
            <a:off x="1214438" y="1793081"/>
            <a:ext cx="3493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 para Identificar uma Violação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214438" y="1959173"/>
            <a:ext cx="349329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 entre o início do ataque e sua detecção pelas equipes de segurança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57188" y="2473523"/>
            <a:ext cx="7143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100s</a:t>
            </a:r>
            <a:endParaRPr lang="en-US" sz="2016" dirty="0"/>
          </a:p>
        </p:txBody>
      </p:sp>
      <p:sp>
        <p:nvSpPr>
          <p:cNvPr id="16" name="Text 13"/>
          <p:cNvSpPr/>
          <p:nvPr/>
        </p:nvSpPr>
        <p:spPr>
          <a:xfrm>
            <a:off x="1214438" y="2502098"/>
            <a:ext cx="3493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Diários por Analista SOC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1214438" y="2668191"/>
            <a:ext cx="349329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Triagem manual é inviável — inconsistências e atrasos na resposta a incidentes críticos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5286375" y="703659"/>
            <a:ext cx="3571875" cy="7718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6"/>
          <p:cNvSpPr/>
          <p:nvPr/>
        </p:nvSpPr>
        <p:spPr>
          <a:xfrm>
            <a:off x="5286375" y="703659"/>
            <a:ext cx="21431" cy="771860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20" name="Text 17"/>
          <p:cNvSpPr/>
          <p:nvPr/>
        </p:nvSpPr>
        <p:spPr>
          <a:xfrm>
            <a:off x="5457825" y="846534"/>
            <a:ext cx="32575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custo médio de uma violação de dados atingiu US$ 4,45 milhões em 2023 — o valor mais alto já registrado na história do relatório."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457825" y="1237990"/>
            <a:ext cx="32575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IBM Cost of a Data Breach Report 2023</a:t>
            </a:r>
            <a:endParaRPr lang="en-US" sz="516" dirty="0"/>
          </a:p>
        </p:txBody>
      </p:sp>
      <p:sp>
        <p:nvSpPr>
          <p:cNvPr id="22" name="Shape 19"/>
          <p:cNvSpPr/>
          <p:nvPr/>
        </p:nvSpPr>
        <p:spPr>
          <a:xfrm>
            <a:off x="5286375" y="1646969"/>
            <a:ext cx="3571875" cy="787598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29250" y="1789844"/>
            <a:ext cx="32861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PERGUNTA CENTRAL DO PROJETO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5429250" y="1955936"/>
            <a:ext cx="32861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automatizar a triagem e classificação de incidentes sem perder rastreabilidade, auditoria e controle do analista?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5286375" y="4507706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Fontes: IBM X-Force Threat Intelligence Index 2023 · IBM Cost of a Data Breach Report 2023</a:t>
            </a:r>
            <a:endParaRPr lang="en-US" sz="516" dirty="0"/>
          </a:p>
        </p:txBody>
      </p:sp>
      <p:sp>
        <p:nvSpPr>
          <p:cNvPr id="26" name="Shape 23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Text 25"/>
          <p:cNvSpPr/>
          <p:nvPr/>
        </p:nvSpPr>
        <p:spPr>
          <a:xfrm>
            <a:off x="214313" y="4962227"/>
            <a:ext cx="11501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Contexto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7220545" y="4961334"/>
            <a:ext cx="149483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</a:t>
            </a:r>
            <a:endParaRPr lang="en-US" sz="5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4751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do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751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1191220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575072"/>
            <a:ext cx="84296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 GERAL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357188" y="726877"/>
            <a:ext cx="84296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 uma plataforma web full-stack para registro, classificação automática e acompanhamento de incidentes de segurança cibernética, com painel administrativo, relatórios e modelo de Machine Learning retreinável.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357188" y="1348383"/>
            <a:ext cx="395049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OBJETIVOS ESPECÍFICOS</a:t>
            </a:r>
            <a:endParaRPr lang="en-US" sz="516" dirty="0"/>
          </a:p>
        </p:txBody>
      </p:sp>
      <p:sp>
        <p:nvSpPr>
          <p:cNvPr id="14" name="Text 11"/>
          <p:cNvSpPr/>
          <p:nvPr/>
        </p:nvSpPr>
        <p:spPr>
          <a:xfrm>
            <a:off x="357188" y="1643063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57225" y="1628775"/>
            <a:ext cx="36504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 via ML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57225" y="1764506"/>
            <a:ext cx="36504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+ Naive Bayes com acurácia ≥ 90% em cross-validation 5-fold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57188" y="2048805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57225" y="2034518"/>
            <a:ext cx="36504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Acesso por Papel (RBAC)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57225" y="2170249"/>
            <a:ext cx="36504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Perfis usuário e admin com proteção em todas as rotas sensíveis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357188" y="2454548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57225" y="2440260"/>
            <a:ext cx="36504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com KPIs e Visualizações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57225" y="2575992"/>
            <a:ext cx="36504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em tempo real, filtros avançados e busca de texto completo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57188" y="2860291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57225" y="2846003"/>
            <a:ext cx="36504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PDF e Exportação CSV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57225" y="2981734"/>
            <a:ext cx="36504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filtros aplicados, quebra de linha automática e modo admin global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357188" y="3266033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657225" y="3251746"/>
            <a:ext cx="36504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 Completa de Alterações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57225" y="3387477"/>
            <a:ext cx="36504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cada mudança de status, nota e categoria com timestamp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829175" y="1348383"/>
            <a:ext cx="4029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RESULTADOS ALCANÇADOS</a:t>
            </a:r>
            <a:endParaRPr lang="en-US" sz="516" dirty="0"/>
          </a:p>
        </p:txBody>
      </p:sp>
      <p:sp>
        <p:nvSpPr>
          <p:cNvPr id="30" name="Shape 27"/>
          <p:cNvSpPr/>
          <p:nvPr/>
        </p:nvSpPr>
        <p:spPr>
          <a:xfrm>
            <a:off x="4829175" y="1557338"/>
            <a:ext cx="1971675" cy="7000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8"/>
          <p:cNvSpPr/>
          <p:nvPr/>
        </p:nvSpPr>
        <p:spPr>
          <a:xfrm>
            <a:off x="4943475" y="1657350"/>
            <a:ext cx="1743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97%</a:t>
            </a:r>
            <a:endParaRPr lang="en-US" sz="1602" dirty="0"/>
          </a:p>
        </p:txBody>
      </p:sp>
      <p:sp>
        <p:nvSpPr>
          <p:cNvPr id="32" name="Text 29"/>
          <p:cNvSpPr/>
          <p:nvPr/>
        </p:nvSpPr>
        <p:spPr>
          <a:xfrm>
            <a:off x="4943475" y="1914525"/>
            <a:ext cx="174307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ML (meta: ≥ 90%)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943475" y="2062758"/>
            <a:ext cx="1743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SUPERADO</a:t>
            </a:r>
            <a:endParaRPr lang="en-US" sz="516" dirty="0"/>
          </a:p>
        </p:txBody>
      </p:sp>
      <p:sp>
        <p:nvSpPr>
          <p:cNvPr id="34" name="Shape 31"/>
          <p:cNvSpPr/>
          <p:nvPr/>
        </p:nvSpPr>
        <p:spPr>
          <a:xfrm>
            <a:off x="6886575" y="1557338"/>
            <a:ext cx="1971675" cy="7000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2"/>
          <p:cNvSpPr/>
          <p:nvPr/>
        </p:nvSpPr>
        <p:spPr>
          <a:xfrm>
            <a:off x="7000875" y="1657350"/>
            <a:ext cx="1743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</a:t>
            </a:r>
            <a:endParaRPr lang="en-US" sz="1602" dirty="0"/>
          </a:p>
        </p:txBody>
      </p:sp>
      <p:sp>
        <p:nvSpPr>
          <p:cNvPr id="36" name="Text 33"/>
          <p:cNvSpPr/>
          <p:nvPr/>
        </p:nvSpPr>
        <p:spPr>
          <a:xfrm>
            <a:off x="7000875" y="1914525"/>
            <a:ext cx="174307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 (meta: ≥ 300)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7000875" y="2062758"/>
            <a:ext cx="1743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SUPERADO</a:t>
            </a:r>
            <a:endParaRPr lang="en-US" sz="516" dirty="0"/>
          </a:p>
        </p:txBody>
      </p:sp>
      <p:sp>
        <p:nvSpPr>
          <p:cNvPr id="38" name="Shape 35"/>
          <p:cNvSpPr/>
          <p:nvPr/>
        </p:nvSpPr>
        <p:spPr>
          <a:xfrm>
            <a:off x="4829175" y="2343150"/>
            <a:ext cx="1971675" cy="80545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6"/>
          <p:cNvSpPr/>
          <p:nvPr/>
        </p:nvSpPr>
        <p:spPr>
          <a:xfrm>
            <a:off x="4943475" y="2443163"/>
            <a:ext cx="1743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&lt;200ms</a:t>
            </a:r>
            <a:endParaRPr lang="en-US" sz="1602" dirty="0"/>
          </a:p>
        </p:txBody>
      </p:sp>
      <p:sp>
        <p:nvSpPr>
          <p:cNvPr id="40" name="Text 37"/>
          <p:cNvSpPr/>
          <p:nvPr/>
        </p:nvSpPr>
        <p:spPr>
          <a:xfrm>
            <a:off x="4943475" y="2700338"/>
            <a:ext cx="174307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de classificação (meta: &lt;500ms)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4943475" y="2848570"/>
            <a:ext cx="1743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SUPERADO</a:t>
            </a:r>
            <a:endParaRPr lang="en-US" sz="516" dirty="0"/>
          </a:p>
        </p:txBody>
      </p:sp>
      <p:sp>
        <p:nvSpPr>
          <p:cNvPr id="42" name="Shape 39"/>
          <p:cNvSpPr/>
          <p:nvPr/>
        </p:nvSpPr>
        <p:spPr>
          <a:xfrm>
            <a:off x="6886575" y="2343150"/>
            <a:ext cx="1971675" cy="80545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Text 40"/>
          <p:cNvSpPr/>
          <p:nvPr/>
        </p:nvSpPr>
        <p:spPr>
          <a:xfrm>
            <a:off x="7000875" y="2443163"/>
            <a:ext cx="17430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2" dirty="0"/>
          </a:p>
        </p:txBody>
      </p:sp>
      <p:sp>
        <p:nvSpPr>
          <p:cNvPr id="44" name="Text 41"/>
          <p:cNvSpPr/>
          <p:nvPr/>
        </p:nvSpPr>
        <p:spPr>
          <a:xfrm>
            <a:off x="7000875" y="2700338"/>
            <a:ext cx="17430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 integrados (Node.js + Flask × 2)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7000875" y="2953941"/>
            <a:ext cx="1743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ATINGIDO</a:t>
            </a:r>
            <a:endParaRPr lang="en-US" sz="516" dirty="0"/>
          </a:p>
        </p:txBody>
      </p:sp>
      <p:sp>
        <p:nvSpPr>
          <p:cNvPr id="46" name="Shape 43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8" name="Text 45"/>
          <p:cNvSpPr/>
          <p:nvPr/>
        </p:nvSpPr>
        <p:spPr>
          <a:xfrm>
            <a:off x="214313" y="4962227"/>
            <a:ext cx="12001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Objetivos</a:t>
            </a:r>
            <a:endParaRPr lang="en-US" sz="516" dirty="0"/>
          </a:p>
        </p:txBody>
      </p:sp>
      <p:sp>
        <p:nvSpPr>
          <p:cNvPr id="49" name="Text 46"/>
          <p:cNvSpPr/>
          <p:nvPr/>
        </p:nvSpPr>
        <p:spPr>
          <a:xfrm>
            <a:off x="7220545" y="4961334"/>
            <a:ext cx="149483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</a:t>
            </a:r>
            <a:endParaRPr lang="en-US" sz="5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7930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do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589359"/>
            <a:ext cx="444341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DIAGRAMA DE ARQUITETURA</a:t>
            </a:r>
            <a:endParaRPr lang="en-US" sz="516" dirty="0"/>
          </a:p>
        </p:txBody>
      </p:sp>
      <p:sp>
        <p:nvSpPr>
          <p:cNvPr id="9" name="Shape 6"/>
          <p:cNvSpPr/>
          <p:nvPr/>
        </p:nvSpPr>
        <p:spPr>
          <a:xfrm>
            <a:off x="357188" y="769739"/>
            <a:ext cx="4443413" cy="3984427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047452"/>
            <a:ext cx="4429125" cy="3429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4931" y="589359"/>
            <a:ext cx="36933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CAMADAS DO SISTEMA</a:t>
            </a:r>
            <a:endParaRPr lang="en-US" sz="516" dirty="0"/>
          </a:p>
        </p:txBody>
      </p:sp>
      <p:sp>
        <p:nvSpPr>
          <p:cNvPr id="12" name="Text 8"/>
          <p:cNvSpPr/>
          <p:nvPr/>
        </p:nvSpPr>
        <p:spPr>
          <a:xfrm>
            <a:off x="5164931" y="769739"/>
            <a:ext cx="928688" cy="2728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CAMADA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6093619" y="769739"/>
            <a:ext cx="1285875" cy="2728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7379494" y="769739"/>
            <a:ext cx="500063" cy="2728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PORTA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7879556" y="769739"/>
            <a:ext cx="978694" cy="2728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FUNÇÃO</a:t>
            </a:r>
            <a:endParaRPr lang="en-US" sz="584" dirty="0"/>
          </a:p>
        </p:txBody>
      </p:sp>
      <p:sp>
        <p:nvSpPr>
          <p:cNvPr id="16" name="Shape 12"/>
          <p:cNvSpPr/>
          <p:nvPr/>
        </p:nvSpPr>
        <p:spPr>
          <a:xfrm>
            <a:off x="5164931" y="1056912"/>
            <a:ext cx="3693319" cy="509997"/>
          </a:xfrm>
          <a:prstGeom prst="rect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164931" y="1559765"/>
            <a:ext cx="3693319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Text 14"/>
          <p:cNvSpPr/>
          <p:nvPr/>
        </p:nvSpPr>
        <p:spPr>
          <a:xfrm>
            <a:off x="5164931" y="1056912"/>
            <a:ext cx="928688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6093619" y="1056912"/>
            <a:ext cx="1285875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19 + Vite + Tailwind 4</a:t>
            </a:r>
            <a:endParaRPr lang="en-US" sz="621" dirty="0"/>
          </a:p>
        </p:txBody>
      </p:sp>
      <p:sp>
        <p:nvSpPr>
          <p:cNvPr id="20" name="Text 16"/>
          <p:cNvSpPr/>
          <p:nvPr/>
        </p:nvSpPr>
        <p:spPr>
          <a:xfrm>
            <a:off x="7379494" y="1056912"/>
            <a:ext cx="500063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7879556" y="1056912"/>
            <a:ext cx="978694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SOC Portal, dark theme, shadcn/ui</a:t>
            </a:r>
            <a:endParaRPr lang="en-US" sz="621" dirty="0"/>
          </a:p>
        </p:txBody>
      </p:sp>
      <p:sp>
        <p:nvSpPr>
          <p:cNvPr id="22" name="Text 18"/>
          <p:cNvSpPr/>
          <p:nvPr/>
        </p:nvSpPr>
        <p:spPr>
          <a:xfrm>
            <a:off x="5164931" y="1559765"/>
            <a:ext cx="928688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</a:t>
            </a:r>
            <a:endParaRPr lang="en-US" sz="634" dirty="0"/>
          </a:p>
        </p:txBody>
      </p:sp>
      <p:sp>
        <p:nvSpPr>
          <p:cNvPr id="23" name="Text 19"/>
          <p:cNvSpPr/>
          <p:nvPr/>
        </p:nvSpPr>
        <p:spPr>
          <a:xfrm>
            <a:off x="6093619" y="1559765"/>
            <a:ext cx="1285875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 22 + Express + tRPC 11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7379494" y="1559765"/>
            <a:ext cx="500063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3000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7879556" y="1559765"/>
            <a:ext cx="978694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type-safe, autenticação JWT, RBAC</a:t>
            </a:r>
            <a:endParaRPr lang="en-US" sz="621" dirty="0"/>
          </a:p>
        </p:txBody>
      </p:sp>
      <p:sp>
        <p:nvSpPr>
          <p:cNvPr id="26" name="Shape 22"/>
          <p:cNvSpPr/>
          <p:nvPr/>
        </p:nvSpPr>
        <p:spPr>
          <a:xfrm>
            <a:off x="5164931" y="2069762"/>
            <a:ext cx="3693319" cy="509997"/>
          </a:xfrm>
          <a:prstGeom prst="rect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5164931" y="2572615"/>
            <a:ext cx="3693319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Text 24"/>
          <p:cNvSpPr/>
          <p:nvPr/>
        </p:nvSpPr>
        <p:spPr>
          <a:xfrm>
            <a:off x="5164931" y="2069762"/>
            <a:ext cx="928688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</a:t>
            </a:r>
            <a:endParaRPr lang="en-US" sz="634" dirty="0"/>
          </a:p>
        </p:txBody>
      </p:sp>
      <p:sp>
        <p:nvSpPr>
          <p:cNvPr id="29" name="Text 25"/>
          <p:cNvSpPr/>
          <p:nvPr/>
        </p:nvSpPr>
        <p:spPr>
          <a:xfrm>
            <a:off x="6093619" y="2069762"/>
            <a:ext cx="1285875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TiDB / MySQL 8 + Drizzle ORM</a:t>
            </a:r>
            <a:endParaRPr lang="en-US" sz="621" dirty="0"/>
          </a:p>
        </p:txBody>
      </p:sp>
      <p:sp>
        <p:nvSpPr>
          <p:cNvPr id="30" name="Text 26"/>
          <p:cNvSpPr/>
          <p:nvPr/>
        </p:nvSpPr>
        <p:spPr>
          <a:xfrm>
            <a:off x="7379494" y="2069762"/>
            <a:ext cx="500063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TLS</a:t>
            </a:r>
            <a:endParaRPr lang="en-US" sz="621" dirty="0"/>
          </a:p>
        </p:txBody>
      </p:sp>
      <p:sp>
        <p:nvSpPr>
          <p:cNvPr id="31" name="Text 27"/>
          <p:cNvSpPr/>
          <p:nvPr/>
        </p:nvSpPr>
        <p:spPr>
          <a:xfrm>
            <a:off x="7879556" y="2069762"/>
            <a:ext cx="978694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relacional, migrações versionadas</a:t>
            </a:r>
            <a:endParaRPr lang="en-US" sz="621" dirty="0"/>
          </a:p>
        </p:txBody>
      </p:sp>
      <p:sp>
        <p:nvSpPr>
          <p:cNvPr id="32" name="Text 28"/>
          <p:cNvSpPr/>
          <p:nvPr/>
        </p:nvSpPr>
        <p:spPr>
          <a:xfrm>
            <a:off x="5164931" y="2572615"/>
            <a:ext cx="928688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Classifier</a:t>
            </a:r>
            <a:endParaRPr lang="en-US" sz="634" dirty="0"/>
          </a:p>
        </p:txBody>
      </p:sp>
      <p:sp>
        <p:nvSpPr>
          <p:cNvPr id="33" name="Text 29"/>
          <p:cNvSpPr/>
          <p:nvPr/>
        </p:nvSpPr>
        <p:spPr>
          <a:xfrm>
            <a:off x="6093619" y="2572615"/>
            <a:ext cx="1285875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Flask + TF-IDF + Naive Bayes</a:t>
            </a:r>
            <a:endParaRPr lang="en-US" sz="621" dirty="0"/>
          </a:p>
        </p:txBody>
      </p:sp>
      <p:sp>
        <p:nvSpPr>
          <p:cNvPr id="34" name="Text 30"/>
          <p:cNvSpPr/>
          <p:nvPr/>
        </p:nvSpPr>
        <p:spPr>
          <a:xfrm>
            <a:off x="7379494" y="2572615"/>
            <a:ext cx="500063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5001</a:t>
            </a:r>
            <a:endParaRPr lang="en-US" sz="621" dirty="0"/>
          </a:p>
        </p:txBody>
      </p:sp>
      <p:sp>
        <p:nvSpPr>
          <p:cNvPr id="35" name="Text 31"/>
          <p:cNvSpPr/>
          <p:nvPr/>
        </p:nvSpPr>
        <p:spPr>
          <a:xfrm>
            <a:off x="7879556" y="2572615"/>
            <a:ext cx="978694" cy="5028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automática, acurácia 97%</a:t>
            </a:r>
            <a:endParaRPr lang="en-US" sz="621" dirty="0"/>
          </a:p>
        </p:txBody>
      </p:sp>
      <p:sp>
        <p:nvSpPr>
          <p:cNvPr id="36" name="Shape 32"/>
          <p:cNvSpPr/>
          <p:nvPr/>
        </p:nvSpPr>
        <p:spPr>
          <a:xfrm>
            <a:off x="5164931" y="3082612"/>
            <a:ext cx="3693319" cy="390004"/>
          </a:xfrm>
          <a:prstGeom prst="rect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5164931" y="3465472"/>
            <a:ext cx="3693319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8" name="Text 34"/>
          <p:cNvSpPr/>
          <p:nvPr/>
        </p:nvSpPr>
        <p:spPr>
          <a:xfrm>
            <a:off x="5164931" y="3082612"/>
            <a:ext cx="928688" cy="3828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Generator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6093619" y="3082612"/>
            <a:ext cx="1285875" cy="3828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Flask + PDFKit + ReportLab</a:t>
            </a:r>
            <a:endParaRPr lang="en-US" sz="621" dirty="0"/>
          </a:p>
        </p:txBody>
      </p:sp>
      <p:sp>
        <p:nvSpPr>
          <p:cNvPr id="40" name="Text 36"/>
          <p:cNvSpPr/>
          <p:nvPr/>
        </p:nvSpPr>
        <p:spPr>
          <a:xfrm>
            <a:off x="7379494" y="3082612"/>
            <a:ext cx="500063" cy="3828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5002</a:t>
            </a:r>
            <a:endParaRPr lang="en-US" sz="621" dirty="0"/>
          </a:p>
        </p:txBody>
      </p:sp>
      <p:sp>
        <p:nvSpPr>
          <p:cNvPr id="41" name="Text 37"/>
          <p:cNvSpPr/>
          <p:nvPr/>
        </p:nvSpPr>
        <p:spPr>
          <a:xfrm>
            <a:off x="7879556" y="3082612"/>
            <a:ext cx="978694" cy="38286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PDF com filtros e modo admin</a:t>
            </a:r>
            <a:endParaRPr lang="en-US" sz="621" dirty="0"/>
          </a:p>
        </p:txBody>
      </p:sp>
      <p:sp>
        <p:nvSpPr>
          <p:cNvPr id="42" name="Shape 38"/>
          <p:cNvSpPr/>
          <p:nvPr/>
        </p:nvSpPr>
        <p:spPr>
          <a:xfrm>
            <a:off x="5164931" y="4173736"/>
            <a:ext cx="3693319" cy="58043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Shape 39"/>
          <p:cNvSpPr/>
          <p:nvPr/>
        </p:nvSpPr>
        <p:spPr>
          <a:xfrm>
            <a:off x="5164931" y="4173736"/>
            <a:ext cx="3693319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Text 40"/>
          <p:cNvSpPr/>
          <p:nvPr/>
        </p:nvSpPr>
        <p:spPr>
          <a:xfrm>
            <a:off x="5264944" y="4273748"/>
            <a:ext cx="349329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PROTOCOLO DE COMUNICAÇÃO</a:t>
            </a:r>
            <a:endParaRPr lang="en-US" sz="516" dirty="0"/>
          </a:p>
        </p:txBody>
      </p:sp>
      <p:sp>
        <p:nvSpPr>
          <p:cNvPr id="45" name="Text 41"/>
          <p:cNvSpPr/>
          <p:nvPr/>
        </p:nvSpPr>
        <p:spPr>
          <a:xfrm>
            <a:off x="5264944" y="4411266"/>
            <a:ext cx="3493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→ Backend: </a:t>
            </a:r>
            <a:r>
              <a:rPr lang="en-US" sz="58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 over HTTP + superjson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(tipagem end-to-end) · Backend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Flask: </a:t>
            </a:r>
            <a:r>
              <a:rPr lang="en-US" sz="58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POST JSON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interno · Backend → BD: </a:t>
            </a:r>
            <a:r>
              <a:rPr lang="en-US" sz="58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Drizzle ORM + TLS</a:t>
            </a:r>
            <a:endParaRPr lang="en-US" sz="621" dirty="0"/>
          </a:p>
        </p:txBody>
      </p:sp>
      <p:sp>
        <p:nvSpPr>
          <p:cNvPr id="46" name="Shape 42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8" name="Text 44"/>
          <p:cNvSpPr/>
          <p:nvPr/>
        </p:nvSpPr>
        <p:spPr>
          <a:xfrm>
            <a:off x="214313" y="4962227"/>
            <a:ext cx="130016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Arquitetura</a:t>
            </a:r>
            <a:endParaRPr lang="en-US" sz="516" dirty="0"/>
          </a:p>
        </p:txBody>
      </p:sp>
      <p:sp>
        <p:nvSpPr>
          <p:cNvPr id="49" name="Text 45"/>
          <p:cNvSpPr/>
          <p:nvPr/>
        </p:nvSpPr>
        <p:spPr>
          <a:xfrm>
            <a:off x="6720483" y="4961334"/>
            <a:ext cx="199489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Frontend + Banco de Dados</a:t>
            </a:r>
            <a:endParaRPr lang="en-US" sz="5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18050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46509"/>
            <a:ext cx="10358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CAMADA</a:t>
            </a:r>
            <a:endParaRPr lang="en-US" sz="516" dirty="0"/>
          </a:p>
        </p:txBody>
      </p:sp>
      <p:sp>
        <p:nvSpPr>
          <p:cNvPr id="9" name="Shape 6"/>
          <p:cNvSpPr/>
          <p:nvPr/>
        </p:nvSpPr>
        <p:spPr>
          <a:xfrm>
            <a:off x="357188" y="798314"/>
            <a:ext cx="657225" cy="241102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2913" y="855464"/>
            <a:ext cx="47148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357188" y="1253728"/>
            <a:ext cx="10358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RESPONSÁVEIS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357188" y="1476970"/>
            <a:ext cx="10358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357188" y="1619845"/>
            <a:ext cx="103584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UI/UX · Design System · BD</a:t>
            </a:r>
            <a:endParaRPr lang="en-US" sz="516" dirty="0"/>
          </a:p>
        </p:txBody>
      </p:sp>
      <p:sp>
        <p:nvSpPr>
          <p:cNvPr id="14" name="Text 11"/>
          <p:cNvSpPr/>
          <p:nvPr/>
        </p:nvSpPr>
        <p:spPr>
          <a:xfrm>
            <a:off x="357188" y="1959173"/>
            <a:ext cx="10358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357188" y="2102048"/>
            <a:ext cx="103584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Componentes · Integração ML</a:t>
            </a:r>
            <a:endParaRPr lang="en-US" sz="516" dirty="0"/>
          </a:p>
        </p:txBody>
      </p:sp>
      <p:sp>
        <p:nvSpPr>
          <p:cNvPr id="16" name="Shape 13"/>
          <p:cNvSpPr/>
          <p:nvPr/>
        </p:nvSpPr>
        <p:spPr>
          <a:xfrm>
            <a:off x="357188" y="2591395"/>
            <a:ext cx="1035844" cy="8286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4"/>
          <p:cNvSpPr/>
          <p:nvPr/>
        </p:nvSpPr>
        <p:spPr>
          <a:xfrm>
            <a:off x="357188" y="2591395"/>
            <a:ext cx="1035844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42913" y="2677120"/>
            <a:ext cx="86439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SYSTEM</a:t>
            </a:r>
            <a:endParaRPr lang="en-US" sz="463" dirty="0"/>
          </a:p>
        </p:txBody>
      </p:sp>
      <p:sp>
        <p:nvSpPr>
          <p:cNvPr id="19" name="Text 16"/>
          <p:cNvSpPr/>
          <p:nvPr/>
        </p:nvSpPr>
        <p:spPr>
          <a:xfrm>
            <a:off x="442913" y="2805708"/>
            <a:ext cx="8643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Portal — tema dark profissional, padrão Splunk / IBM QRadar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1800225" y="646509"/>
            <a:ext cx="396478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DE TECNOLOGIAS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1800225" y="855464"/>
            <a:ext cx="945654" cy="173236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</a:t>
            </a:r>
            <a:endParaRPr lang="en-US" sz="485" dirty="0"/>
          </a:p>
        </p:txBody>
      </p:sp>
      <p:sp>
        <p:nvSpPr>
          <p:cNvPr id="22" name="Text 19"/>
          <p:cNvSpPr/>
          <p:nvPr/>
        </p:nvSpPr>
        <p:spPr>
          <a:xfrm>
            <a:off x="2745879" y="855464"/>
            <a:ext cx="571500" cy="173236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VERSÃO</a:t>
            </a:r>
            <a:endParaRPr lang="en-US" sz="485" dirty="0"/>
          </a:p>
        </p:txBody>
      </p:sp>
      <p:sp>
        <p:nvSpPr>
          <p:cNvPr id="23" name="Text 20"/>
          <p:cNvSpPr/>
          <p:nvPr/>
        </p:nvSpPr>
        <p:spPr>
          <a:xfrm>
            <a:off x="3317379" y="855464"/>
            <a:ext cx="2447627" cy="173236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FUNÇÃO</a:t>
            </a:r>
            <a:endParaRPr lang="en-US" sz="485" dirty="0"/>
          </a:p>
        </p:txBody>
      </p:sp>
      <p:sp>
        <p:nvSpPr>
          <p:cNvPr id="24" name="Text 21"/>
          <p:cNvSpPr/>
          <p:nvPr/>
        </p:nvSpPr>
        <p:spPr>
          <a:xfrm>
            <a:off x="1800225" y="1159966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745879" y="1169789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19.x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3317379" y="1114425"/>
            <a:ext cx="12072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de usuário reativa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317379" y="1241227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Mode + Server Components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1800225" y="1547515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2745879" y="1557338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5.9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3317379" y="1501973"/>
            <a:ext cx="12876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estática end-to-end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317379" y="1628775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compartilhados com o backend via tRPC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1800225" y="1935063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2745879" y="1944886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7.x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3317379" y="1889522"/>
            <a:ext cx="9519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 ultrarrápido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3317379" y="2016323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HMR instantâneo, bundle otimizado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1800225" y="2322612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TailwindCSS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2745879" y="2332434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4.x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3317379" y="2277070"/>
            <a:ext cx="84653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Estilização utilitária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317379" y="2403872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OKLCH color format, design tokens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1800225" y="2710160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shadcn/ui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2745879" y="2719983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3317379" y="2664619"/>
            <a:ext cx="16323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acessíveis (WCAG AA)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3317379" y="2791420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Dialog, Badge, Select, Table, Alert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1800225" y="3097709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Recharts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2745879" y="3107531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2.x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3317379" y="3052167"/>
            <a:ext cx="9965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e dashboards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3317379" y="3178969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BarChart, PieChart, ResponsiveContainer</a:t>
            </a:r>
            <a:endParaRPr lang="en-US" sz="568" dirty="0"/>
          </a:p>
        </p:txBody>
      </p:sp>
      <p:sp>
        <p:nvSpPr>
          <p:cNvPr id="48" name="Text 45"/>
          <p:cNvSpPr/>
          <p:nvPr/>
        </p:nvSpPr>
        <p:spPr>
          <a:xfrm>
            <a:off x="1800225" y="3485257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Wouter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2745879" y="3495080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3.x</a:t>
            </a:r>
            <a:endParaRPr lang="en-US" sz="621" dirty="0"/>
          </a:p>
        </p:txBody>
      </p:sp>
      <p:sp>
        <p:nvSpPr>
          <p:cNvPr id="50" name="Text 47"/>
          <p:cNvSpPr/>
          <p:nvPr/>
        </p:nvSpPr>
        <p:spPr>
          <a:xfrm>
            <a:off x="3317379" y="3439716"/>
            <a:ext cx="101262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 client-side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3317379" y="3566517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Leve, sem dependências externas</a:t>
            </a:r>
            <a:endParaRPr lang="en-US" sz="568" dirty="0"/>
          </a:p>
        </p:txBody>
      </p:sp>
      <p:sp>
        <p:nvSpPr>
          <p:cNvPr id="52" name="Text 49"/>
          <p:cNvSpPr/>
          <p:nvPr/>
        </p:nvSpPr>
        <p:spPr>
          <a:xfrm>
            <a:off x="1800225" y="3872805"/>
            <a:ext cx="94565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 Client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2745879" y="3882628"/>
            <a:ext cx="571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11.x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3317379" y="3827264"/>
            <a:ext cx="10679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Chamadas à API tipadas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3317379" y="3954066"/>
            <a:ext cx="24476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useQuery / useMutation com superjson</a:t>
            </a:r>
            <a:endParaRPr lang="en-US" sz="568" dirty="0"/>
          </a:p>
        </p:txBody>
      </p:sp>
      <p:sp>
        <p:nvSpPr>
          <p:cNvPr id="56" name="Shape 53"/>
          <p:cNvSpPr/>
          <p:nvPr/>
        </p:nvSpPr>
        <p:spPr>
          <a:xfrm>
            <a:off x="6200775" y="646509"/>
            <a:ext cx="2657475" cy="161002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7" name="Text 54"/>
          <p:cNvSpPr/>
          <p:nvPr/>
        </p:nvSpPr>
        <p:spPr>
          <a:xfrm>
            <a:off x="6315075" y="746522"/>
            <a:ext cx="242887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DESTAQUES DE DESIGN</a:t>
            </a:r>
            <a:endParaRPr lang="en-US" sz="463" dirty="0"/>
          </a:p>
        </p:txBody>
      </p:sp>
      <p:sp>
        <p:nvSpPr>
          <p:cNvPr id="58" name="Text 55"/>
          <p:cNvSpPr/>
          <p:nvPr/>
        </p:nvSpPr>
        <p:spPr>
          <a:xfrm>
            <a:off x="6415088" y="925116"/>
            <a:ext cx="23288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 dark profissional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fundo #0d1117, tipografia Inter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JetBrains Mono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6415088" y="1243682"/>
            <a:ext cx="23288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compacta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badges coloridos por severidade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(crítico, alto, médio, baixo)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6415088" y="1562249"/>
            <a:ext cx="23288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Responsivo e acessível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foco visível, navegação por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teclado, WCAG AA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6415088" y="1880815"/>
            <a:ext cx="23288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visual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 resultados de busca com &lt;mark&gt; e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CSS</a:t>
            </a:r>
            <a:endParaRPr lang="en-US" sz="584" dirty="0"/>
          </a:p>
        </p:txBody>
      </p:sp>
      <p:sp>
        <p:nvSpPr>
          <p:cNvPr id="62" name="Shape 59"/>
          <p:cNvSpPr/>
          <p:nvPr/>
        </p:nvSpPr>
        <p:spPr>
          <a:xfrm>
            <a:off x="6200775" y="2370832"/>
            <a:ext cx="2657475" cy="93147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3" name="Text 60"/>
          <p:cNvSpPr/>
          <p:nvPr/>
        </p:nvSpPr>
        <p:spPr>
          <a:xfrm>
            <a:off x="6315075" y="2470845"/>
            <a:ext cx="242887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TIPOGRAFIA</a:t>
            </a:r>
            <a:endParaRPr lang="en-US" sz="463" dirty="0"/>
          </a:p>
        </p:txBody>
      </p:sp>
      <p:sp>
        <p:nvSpPr>
          <p:cNvPr id="64" name="Text 61"/>
          <p:cNvSpPr/>
          <p:nvPr/>
        </p:nvSpPr>
        <p:spPr>
          <a:xfrm>
            <a:off x="6415088" y="2649438"/>
            <a:ext cx="166092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ExtraBold 800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títulos e headings</a:t>
            </a:r>
            <a:endParaRPr lang="en-US" sz="584" dirty="0"/>
          </a:p>
        </p:txBody>
      </p:sp>
      <p:sp>
        <p:nvSpPr>
          <p:cNvPr id="65" name="Text 62"/>
          <p:cNvSpPr/>
          <p:nvPr/>
        </p:nvSpPr>
        <p:spPr>
          <a:xfrm>
            <a:off x="6415088" y="2848012"/>
            <a:ext cx="212705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JetBrains Mono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dados, versões, badges técnicos</a:t>
            </a:r>
            <a:endParaRPr lang="en-US" sz="584" dirty="0"/>
          </a:p>
        </p:txBody>
      </p:sp>
      <p:sp>
        <p:nvSpPr>
          <p:cNvPr id="66" name="Text 63"/>
          <p:cNvSpPr/>
          <p:nvPr/>
        </p:nvSpPr>
        <p:spPr>
          <a:xfrm>
            <a:off x="6415088" y="3046586"/>
            <a:ext cx="181272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corpo de texto e descrições</a:t>
            </a:r>
            <a:endParaRPr lang="en-US" sz="584" dirty="0"/>
          </a:p>
        </p:txBody>
      </p:sp>
      <p:sp>
        <p:nvSpPr>
          <p:cNvPr id="67" name="Shape 64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9" name="Text 66"/>
          <p:cNvSpPr/>
          <p:nvPr/>
        </p:nvSpPr>
        <p:spPr>
          <a:xfrm>
            <a:off x="214313" y="4962227"/>
            <a:ext cx="145018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Stack Frontend</a:t>
            </a:r>
            <a:endParaRPr lang="en-US" sz="516" dirty="0"/>
          </a:p>
        </p:txBody>
      </p:sp>
      <p:sp>
        <p:nvSpPr>
          <p:cNvPr id="70" name="Text 67"/>
          <p:cNvSpPr/>
          <p:nvPr/>
        </p:nvSpPr>
        <p:spPr>
          <a:xfrm>
            <a:off x="7558088" y="4961334"/>
            <a:ext cx="11572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5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1501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03647"/>
            <a:ext cx="21788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TECNOLOGIAS &amp; VERSÕES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357188" y="798314"/>
            <a:ext cx="706645" cy="18752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</a:t>
            </a:r>
            <a:endParaRPr lang="en-US" sz="485" dirty="0"/>
          </a:p>
        </p:txBody>
      </p:sp>
      <p:sp>
        <p:nvSpPr>
          <p:cNvPr id="10" name="Text 7"/>
          <p:cNvSpPr/>
          <p:nvPr/>
        </p:nvSpPr>
        <p:spPr>
          <a:xfrm>
            <a:off x="1063833" y="798314"/>
            <a:ext cx="452093" cy="18752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VERSÃO</a:t>
            </a:r>
            <a:endParaRPr lang="en-US" sz="485" dirty="0"/>
          </a:p>
        </p:txBody>
      </p:sp>
      <p:sp>
        <p:nvSpPr>
          <p:cNvPr id="11" name="Text 8"/>
          <p:cNvSpPr/>
          <p:nvPr/>
        </p:nvSpPr>
        <p:spPr>
          <a:xfrm>
            <a:off x="1515926" y="798314"/>
            <a:ext cx="1020105" cy="18752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FUNÇÃO</a:t>
            </a:r>
            <a:endParaRPr lang="en-US" sz="485" dirty="0"/>
          </a:p>
        </p:txBody>
      </p:sp>
      <p:sp>
        <p:nvSpPr>
          <p:cNvPr id="12" name="Text 9"/>
          <p:cNvSpPr/>
          <p:nvPr/>
        </p:nvSpPr>
        <p:spPr>
          <a:xfrm>
            <a:off x="357188" y="985838"/>
            <a:ext cx="70664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1063833" y="985838"/>
            <a:ext cx="452093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22.x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1515926" y="985838"/>
            <a:ext cx="102010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JS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357188" y="1223367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1063833" y="1223367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4.x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1515926" y="1223367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 HTTP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57188" y="1457325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1063833" y="1457325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11.x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1515926" y="1457325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type-safe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357188" y="1691283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Drizzle ORM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1063833" y="1691283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0.44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1515926" y="1691283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+ migrações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57188" y="1925241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bcryptjs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1063833" y="1925241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2.x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1515926" y="1925241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de senhas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357188" y="2159198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jose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1063833" y="2159198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6.x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1515926" y="2159198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HttpOnly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357188" y="2393156"/>
            <a:ext cx="70664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Zod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1063833" y="2393156"/>
            <a:ext cx="452093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4.x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1515926" y="2393156"/>
            <a:ext cx="1020105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schema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357188" y="2627114"/>
            <a:ext cx="706645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1063833" y="2627114"/>
            <a:ext cx="452093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1515926" y="2627114"/>
            <a:ext cx="1020105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(347 ✓)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2914650" y="603647"/>
            <a:ext cx="205025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SEGURANÇA IMPLEMENTADA</a:t>
            </a:r>
            <a:endParaRPr lang="en-US" sz="516" dirty="0"/>
          </a:p>
        </p:txBody>
      </p:sp>
      <p:sp>
        <p:nvSpPr>
          <p:cNvPr id="37" name="Shape 34"/>
          <p:cNvSpPr/>
          <p:nvPr/>
        </p:nvSpPr>
        <p:spPr>
          <a:xfrm>
            <a:off x="2914650" y="884039"/>
            <a:ext cx="2050256" cy="70075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5"/>
          <p:cNvSpPr/>
          <p:nvPr/>
        </p:nvSpPr>
        <p:spPr>
          <a:xfrm>
            <a:off x="3014663" y="969764"/>
            <a:ext cx="8393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4D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⚠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155752" y="975122"/>
            <a:ext cx="70901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Custo 12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3014663" y="1135856"/>
            <a:ext cx="18502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Resistente a ataques de força bruta — 250ms por hash intencional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3014663" y="1404417"/>
            <a:ext cx="185023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NIST SP 800-63B compliant</a:t>
            </a:r>
            <a:endParaRPr lang="en-US" sz="516" dirty="0"/>
          </a:p>
        </p:txBody>
      </p:sp>
      <p:sp>
        <p:nvSpPr>
          <p:cNvPr id="42" name="Shape 39"/>
          <p:cNvSpPr/>
          <p:nvPr/>
        </p:nvSpPr>
        <p:spPr>
          <a:xfrm>
            <a:off x="2914650" y="1670521"/>
            <a:ext cx="2050256" cy="5775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Text 40"/>
          <p:cNvSpPr/>
          <p:nvPr/>
        </p:nvSpPr>
        <p:spPr>
          <a:xfrm>
            <a:off x="3014663" y="1756246"/>
            <a:ext cx="78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3150394" y="1761604"/>
            <a:ext cx="9786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HttpOnly Cookie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3014663" y="1922338"/>
            <a:ext cx="18502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Imune a XSS — token inacessível via JavaScript no navegador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2914650" y="2333774"/>
            <a:ext cx="2050256" cy="58109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7" name="Text 44"/>
          <p:cNvSpPr/>
          <p:nvPr/>
        </p:nvSpPr>
        <p:spPr>
          <a:xfrm>
            <a:off x="3014663" y="2419499"/>
            <a:ext cx="11145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◈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3183266" y="2426643"/>
            <a:ext cx="11215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Attack Protection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3014663" y="2589163"/>
            <a:ext cx="18502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Dummy hash compare quando e-mail não existe — impede enumeração de contas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2914650" y="3000598"/>
            <a:ext cx="2050256" cy="5775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1" name="Text 48"/>
          <p:cNvSpPr/>
          <p:nvPr/>
        </p:nvSpPr>
        <p:spPr>
          <a:xfrm>
            <a:off x="3014663" y="3086323"/>
            <a:ext cx="78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3150394" y="3091681"/>
            <a:ext cx="86618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RBAC: user / admin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3014663" y="3252415"/>
            <a:ext cx="18502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protectedProcedure + adminProcedure em todas as rotas sensíveis</a:t>
            </a:r>
            <a:endParaRPr lang="en-US" sz="621" dirty="0"/>
          </a:p>
        </p:txBody>
      </p:sp>
      <p:sp>
        <p:nvSpPr>
          <p:cNvPr id="54" name="Shape 51"/>
          <p:cNvSpPr/>
          <p:nvPr/>
        </p:nvSpPr>
        <p:spPr>
          <a:xfrm>
            <a:off x="2914650" y="3663851"/>
            <a:ext cx="2050256" cy="58109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5" name="Text 52"/>
          <p:cNvSpPr/>
          <p:nvPr/>
        </p:nvSpPr>
        <p:spPr>
          <a:xfrm>
            <a:off x="3014663" y="3749576"/>
            <a:ext cx="11145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◈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3183266" y="3756720"/>
            <a:ext cx="7179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IDOR Protection</a:t>
            </a:r>
            <a:endParaRPr lang="en-US" sz="634" dirty="0"/>
          </a:p>
        </p:txBody>
      </p:sp>
      <p:sp>
        <p:nvSpPr>
          <p:cNvPr id="57" name="Text 54"/>
          <p:cNvSpPr/>
          <p:nvPr/>
        </p:nvSpPr>
        <p:spPr>
          <a:xfrm>
            <a:off x="3014663" y="3919240"/>
            <a:ext cx="18502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só acessa seus próprios incidentes — verificação de userId em cada query</a:t>
            </a:r>
            <a:endParaRPr lang="en-US" sz="621" dirty="0"/>
          </a:p>
        </p:txBody>
      </p:sp>
      <p:sp>
        <p:nvSpPr>
          <p:cNvPr id="58" name="Shape 55"/>
          <p:cNvSpPr/>
          <p:nvPr/>
        </p:nvSpPr>
        <p:spPr>
          <a:xfrm>
            <a:off x="5343525" y="603647"/>
            <a:ext cx="3514725" cy="29918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9" name="Text 56"/>
          <p:cNvSpPr/>
          <p:nvPr/>
        </p:nvSpPr>
        <p:spPr>
          <a:xfrm>
            <a:off x="5457825" y="703659"/>
            <a:ext cx="32861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 — PROCEDURE PATTERN</a:t>
            </a:r>
            <a:endParaRPr lang="en-US" sz="516" dirty="0"/>
          </a:p>
        </p:txBody>
      </p:sp>
      <p:sp>
        <p:nvSpPr>
          <p:cNvPr id="60" name="Text 57"/>
          <p:cNvSpPr/>
          <p:nvPr/>
        </p:nvSpPr>
        <p:spPr>
          <a:xfrm>
            <a:off x="5457825" y="855464"/>
            <a:ext cx="3286125" cy="263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Procedure protegida com RBAC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adminProcedure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protectedProcedure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(({ ctx, next }) =&gt; {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(ctx.user.role !== </a:t>
            </a:r>
            <a:r>
              <a:rPr lang="en-US" sz="568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'admin'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throw new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TRPCError({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code: </a:t>
            </a:r>
            <a:r>
              <a:rPr lang="en-US" sz="568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'FORBIDDEN'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 ctx });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});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Exemplo de procedure de incidente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protectedProcedure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(z.object({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title: z.string().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255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description: z.string().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}))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mutation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({ ctx, input }) =&gt; {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→ Flask :5001 → TF-IDF + NB</a:t>
            </a:r>
            <a:endParaRPr lang="en-US" sz="568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68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ml = 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classify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(input);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568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createIncident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 ...input, ...ml });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})</a:t>
            </a:r>
            <a:endParaRPr lang="en-US" sz="568" dirty="0"/>
          </a:p>
        </p:txBody>
      </p:sp>
      <p:sp>
        <p:nvSpPr>
          <p:cNvPr id="61" name="Shape 58"/>
          <p:cNvSpPr/>
          <p:nvPr/>
        </p:nvSpPr>
        <p:spPr>
          <a:xfrm>
            <a:off x="5343525" y="4157663"/>
            <a:ext cx="3514725" cy="59650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57825" y="4257675"/>
            <a:ext cx="32861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RESPONSÁVEL</a:t>
            </a:r>
            <a:endParaRPr lang="en-US" sz="516" dirty="0"/>
          </a:p>
        </p:txBody>
      </p:sp>
      <p:sp>
        <p:nvSpPr>
          <p:cNvPr id="63" name="Text 60"/>
          <p:cNvSpPr/>
          <p:nvPr/>
        </p:nvSpPr>
        <p:spPr>
          <a:xfrm>
            <a:off x="5457825" y="4395192"/>
            <a:ext cx="3286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endParaRPr lang="en-US" sz="885" dirty="0"/>
          </a:p>
        </p:txBody>
      </p:sp>
      <p:sp>
        <p:nvSpPr>
          <p:cNvPr id="64" name="Text 61"/>
          <p:cNvSpPr/>
          <p:nvPr/>
        </p:nvSpPr>
        <p:spPr>
          <a:xfrm>
            <a:off x="5457825" y="4564856"/>
            <a:ext cx="3286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Lead · Backend · Testes · Segurança</a:t>
            </a:r>
            <a:endParaRPr lang="en-US" sz="568" dirty="0"/>
          </a:p>
        </p:txBody>
      </p:sp>
      <p:sp>
        <p:nvSpPr>
          <p:cNvPr id="65" name="Shape 62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7" name="Text 64"/>
          <p:cNvSpPr/>
          <p:nvPr/>
        </p:nvSpPr>
        <p:spPr>
          <a:xfrm>
            <a:off x="214313" y="4962227"/>
            <a:ext cx="14001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Stack Backend</a:t>
            </a:r>
            <a:endParaRPr lang="en-US" sz="516" dirty="0"/>
          </a:p>
        </p:txBody>
      </p:sp>
      <p:sp>
        <p:nvSpPr>
          <p:cNvPr id="68" name="Text 65"/>
          <p:cNvSpPr/>
          <p:nvPr/>
        </p:nvSpPr>
        <p:spPr>
          <a:xfrm>
            <a:off x="7220545" y="4961334"/>
            <a:ext cx="149483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</a:t>
            </a:r>
            <a:endParaRPr lang="en-US" sz="5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2412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17934"/>
            <a:ext cx="337899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TECNOLOGIAS — RESPONSÁVEL: NATTAN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357188" y="812602"/>
            <a:ext cx="750094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TECNOLOGIA</a:t>
            </a:r>
            <a:endParaRPr lang="en-US" sz="485" dirty="0"/>
          </a:p>
        </p:txBody>
      </p:sp>
      <p:sp>
        <p:nvSpPr>
          <p:cNvPr id="10" name="Text 7"/>
          <p:cNvSpPr/>
          <p:nvPr/>
        </p:nvSpPr>
        <p:spPr>
          <a:xfrm>
            <a:off x="1107281" y="812602"/>
            <a:ext cx="342900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VERSÃO</a:t>
            </a:r>
            <a:endParaRPr lang="en-US" sz="485" dirty="0"/>
          </a:p>
        </p:txBody>
      </p:sp>
      <p:sp>
        <p:nvSpPr>
          <p:cNvPr id="11" name="Text 8"/>
          <p:cNvSpPr/>
          <p:nvPr/>
        </p:nvSpPr>
        <p:spPr>
          <a:xfrm>
            <a:off x="1450181" y="812602"/>
            <a:ext cx="2286000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FUNÇÃO</a:t>
            </a:r>
            <a:endParaRPr lang="en-US" sz="485" dirty="0"/>
          </a:p>
        </p:txBody>
      </p:sp>
      <p:sp>
        <p:nvSpPr>
          <p:cNvPr id="12" name="Text 9"/>
          <p:cNvSpPr/>
          <p:nvPr/>
        </p:nvSpPr>
        <p:spPr>
          <a:xfrm>
            <a:off x="357188" y="971550"/>
            <a:ext cx="750094" cy="36433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TiDB / MySQL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1107281" y="971550"/>
            <a:ext cx="342900" cy="36433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03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8.x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1450181" y="971550"/>
            <a:ext cx="2286000" cy="364331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relacional distribuído, compatível com MySQL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57188" y="1335881"/>
            <a:ext cx="750094" cy="360759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Drizzle ORM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1107281" y="1335881"/>
            <a:ext cx="342900" cy="360759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03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0.44.x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1450181" y="1335881"/>
            <a:ext cx="2286000" cy="360759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type-safe, schema-first, migrações versionadas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57188" y="1696641"/>
            <a:ext cx="750094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Drizzle Kit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1107281" y="1696641"/>
            <a:ext cx="342900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03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1450181" y="1696641"/>
            <a:ext cx="2286000" cy="258961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para generate &amp; migrate (pnpm db:push)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57188" y="1955602"/>
            <a:ext cx="750094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MySQL2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1107281" y="1955602"/>
            <a:ext cx="342900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03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3.x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1450181" y="1955602"/>
            <a:ext cx="2286000" cy="258961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Node.js com suporte a TLS/SSL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57188" y="2214563"/>
            <a:ext cx="750094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1107281" y="2214563"/>
            <a:ext cx="342900" cy="258961"/>
          </a:xfrm>
          <a:prstGeom prst="rect">
            <a:avLst/>
          </a:prstGeom>
          <a:noFill/>
          <a:ln/>
        </p:spPr>
        <p:txBody>
          <a:bodyPr wrap="square" lIns="0" tIns="76581" rIns="102108" bIns="76581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03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1450181" y="2214563"/>
            <a:ext cx="2286000" cy="258961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inferidos do schema para queries type-safe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57188" y="2712839"/>
            <a:ext cx="337899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DESTAQUES DO SCHEMA</a:t>
            </a:r>
            <a:endParaRPr lang="en-US" sz="516" dirty="0"/>
          </a:p>
        </p:txBody>
      </p:sp>
      <p:sp>
        <p:nvSpPr>
          <p:cNvPr id="28" name="Shape 25"/>
          <p:cNvSpPr/>
          <p:nvPr/>
        </p:nvSpPr>
        <p:spPr>
          <a:xfrm>
            <a:off x="357188" y="2907506"/>
            <a:ext cx="807244" cy="175022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7188" y="2907506"/>
            <a:ext cx="807244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Enum: category</a:t>
            </a:r>
            <a:endParaRPr lang="en-US" sz="568" dirty="0"/>
          </a:p>
        </p:txBody>
      </p:sp>
      <p:sp>
        <p:nvSpPr>
          <p:cNvPr id="30" name="Shape 27"/>
          <p:cNvSpPr/>
          <p:nvPr/>
        </p:nvSpPr>
        <p:spPr>
          <a:xfrm>
            <a:off x="1221581" y="2907506"/>
            <a:ext cx="853678" cy="175022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21581" y="2907506"/>
            <a:ext cx="853678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Enum: riskLevel</a:t>
            </a:r>
            <a:endParaRPr lang="en-US" sz="568" dirty="0"/>
          </a:p>
        </p:txBody>
      </p:sp>
      <p:sp>
        <p:nvSpPr>
          <p:cNvPr id="32" name="Shape 29"/>
          <p:cNvSpPr/>
          <p:nvPr/>
        </p:nvSpPr>
        <p:spPr>
          <a:xfrm>
            <a:off x="2132409" y="2907506"/>
            <a:ext cx="714375" cy="175022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132409" y="2907506"/>
            <a:ext cx="714375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Enum: status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357188" y="3139678"/>
            <a:ext cx="1132284" cy="175022"/>
          </a:xfrm>
          <a:prstGeom prst="rect">
            <a:avLst/>
          </a:prstGeom>
          <a:solidFill>
            <a:srgbClr val="3FB950">
              <a:alpha val="10000"/>
            </a:srgbClr>
          </a:solidFill>
          <a:ln w="9144">
            <a:solidFill>
              <a:srgbClr val="3FB950">
                <a:alpha val="2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7188" y="3139678"/>
            <a:ext cx="1132284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Migrações versionadas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1546622" y="3139678"/>
            <a:ext cx="992981" cy="175022"/>
          </a:xfrm>
          <a:prstGeom prst="rect">
            <a:avLst/>
          </a:prstGeom>
          <a:solidFill>
            <a:srgbClr val="3FB950">
              <a:alpha val="10000"/>
            </a:srgbClr>
          </a:solidFill>
          <a:ln w="9144">
            <a:solidFill>
              <a:srgbClr val="3FB950">
                <a:alpha val="2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46622" y="3139678"/>
            <a:ext cx="992981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Auditoria completa</a:t>
            </a:r>
            <a:endParaRPr lang="en-US" sz="568" dirty="0"/>
          </a:p>
        </p:txBody>
      </p:sp>
      <p:sp>
        <p:nvSpPr>
          <p:cNvPr id="38" name="Shape 35"/>
          <p:cNvSpPr/>
          <p:nvPr/>
        </p:nvSpPr>
        <p:spPr>
          <a:xfrm>
            <a:off x="357188" y="3371850"/>
            <a:ext cx="1410891" cy="175022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7188" y="3371850"/>
            <a:ext cx="1410891" cy="17502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Campo confidence (ML score)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4257675" y="617934"/>
            <a:ext cx="46005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TABELAS PRINCIPAIS</a:t>
            </a:r>
            <a:endParaRPr lang="en-US" sz="516" dirty="0"/>
          </a:p>
        </p:txBody>
      </p:sp>
      <p:sp>
        <p:nvSpPr>
          <p:cNvPr id="41" name="Shape 38"/>
          <p:cNvSpPr/>
          <p:nvPr/>
        </p:nvSpPr>
        <p:spPr>
          <a:xfrm>
            <a:off x="4257675" y="898327"/>
            <a:ext cx="4600575" cy="47684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Shape 39"/>
          <p:cNvSpPr/>
          <p:nvPr/>
        </p:nvSpPr>
        <p:spPr>
          <a:xfrm>
            <a:off x="4257675" y="898327"/>
            <a:ext cx="4600575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0"/>
          <p:cNvSpPr/>
          <p:nvPr/>
        </p:nvSpPr>
        <p:spPr>
          <a:xfrm>
            <a:off x="4357688" y="955477"/>
            <a:ext cx="2768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users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7875984" y="974229"/>
            <a:ext cx="88225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AUTENTICAÇÃO · RBAC</a:t>
            </a:r>
            <a:endParaRPr lang="en-US" sz="463" dirty="0"/>
          </a:p>
        </p:txBody>
      </p:sp>
      <p:sp>
        <p:nvSpPr>
          <p:cNvPr id="45" name="Text 42"/>
          <p:cNvSpPr/>
          <p:nvPr/>
        </p:nvSpPr>
        <p:spPr>
          <a:xfrm>
            <a:off x="4357688" y="1200150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(PK)</a:t>
            </a:r>
            <a:endParaRPr lang="en-US" sz="568" dirty="0"/>
          </a:p>
        </p:txBody>
      </p:sp>
      <p:sp>
        <p:nvSpPr>
          <p:cNvPr id="46" name="Text 43"/>
          <p:cNvSpPr/>
          <p:nvPr/>
        </p:nvSpPr>
        <p:spPr>
          <a:xfrm>
            <a:off x="4739878" y="1200150"/>
            <a:ext cx="1857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4982766" y="1200150"/>
            <a:ext cx="2321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endParaRPr lang="en-US" sz="568" dirty="0"/>
          </a:p>
        </p:txBody>
      </p:sp>
      <p:sp>
        <p:nvSpPr>
          <p:cNvPr id="48" name="Text 45"/>
          <p:cNvSpPr/>
          <p:nvPr/>
        </p:nvSpPr>
        <p:spPr>
          <a:xfrm>
            <a:off x="5272088" y="1200150"/>
            <a:ext cx="557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passwordHash</a:t>
            </a:r>
            <a:endParaRPr lang="en-US" sz="568" dirty="0"/>
          </a:p>
        </p:txBody>
      </p:sp>
      <p:sp>
        <p:nvSpPr>
          <p:cNvPr id="49" name="Text 46"/>
          <p:cNvSpPr/>
          <p:nvPr/>
        </p:nvSpPr>
        <p:spPr>
          <a:xfrm>
            <a:off x="5886450" y="1200150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role: user|admin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6686550" y="1200150"/>
            <a:ext cx="417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createdAt</a:t>
            </a:r>
            <a:endParaRPr lang="en-US" sz="568" dirty="0"/>
          </a:p>
        </p:txBody>
      </p:sp>
      <p:sp>
        <p:nvSpPr>
          <p:cNvPr id="51" name="Shape 48"/>
          <p:cNvSpPr/>
          <p:nvPr/>
        </p:nvSpPr>
        <p:spPr>
          <a:xfrm>
            <a:off x="4257675" y="1446609"/>
            <a:ext cx="4600575" cy="60900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Shape 49"/>
          <p:cNvSpPr/>
          <p:nvPr/>
        </p:nvSpPr>
        <p:spPr>
          <a:xfrm>
            <a:off x="4257675" y="1446609"/>
            <a:ext cx="46005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53" name="Text 50"/>
          <p:cNvSpPr/>
          <p:nvPr/>
        </p:nvSpPr>
        <p:spPr>
          <a:xfrm>
            <a:off x="4357688" y="1503759"/>
            <a:ext cx="4982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</a:t>
            </a:r>
            <a:endParaRPr lang="en-US" sz="634" dirty="0"/>
          </a:p>
        </p:txBody>
      </p:sp>
      <p:sp>
        <p:nvSpPr>
          <p:cNvPr id="54" name="Text 51"/>
          <p:cNvSpPr/>
          <p:nvPr/>
        </p:nvSpPr>
        <p:spPr>
          <a:xfrm>
            <a:off x="7504509" y="1522512"/>
            <a:ext cx="125372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 · CLASSIFICAÇÃO ML</a:t>
            </a:r>
            <a:endParaRPr lang="en-US" sz="463" dirty="0"/>
          </a:p>
        </p:txBody>
      </p:sp>
      <p:sp>
        <p:nvSpPr>
          <p:cNvPr id="55" name="Text 52"/>
          <p:cNvSpPr/>
          <p:nvPr/>
        </p:nvSpPr>
        <p:spPr>
          <a:xfrm>
            <a:off x="4357688" y="1748433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(PK)</a:t>
            </a:r>
            <a:endParaRPr lang="en-US" sz="568" dirty="0"/>
          </a:p>
        </p:txBody>
      </p:sp>
      <p:sp>
        <p:nvSpPr>
          <p:cNvPr id="56" name="Text 53"/>
          <p:cNvSpPr/>
          <p:nvPr/>
        </p:nvSpPr>
        <p:spPr>
          <a:xfrm>
            <a:off x="4739878" y="1748433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userId (FK)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5307806" y="1748433"/>
            <a:ext cx="2321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5597128" y="1748433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endParaRPr lang="en-US" sz="568" dirty="0"/>
          </a:p>
        </p:txBody>
      </p:sp>
      <p:sp>
        <p:nvSpPr>
          <p:cNvPr id="59" name="Text 56"/>
          <p:cNvSpPr/>
          <p:nvPr/>
        </p:nvSpPr>
        <p:spPr>
          <a:xfrm>
            <a:off x="6165056" y="1748433"/>
            <a:ext cx="6965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(enum)</a:t>
            </a:r>
            <a:endParaRPr lang="en-US" sz="568" dirty="0"/>
          </a:p>
        </p:txBody>
      </p:sp>
      <p:sp>
        <p:nvSpPr>
          <p:cNvPr id="60" name="Text 57"/>
          <p:cNvSpPr/>
          <p:nvPr/>
        </p:nvSpPr>
        <p:spPr>
          <a:xfrm>
            <a:off x="6918722" y="1748433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riskLevel (enum)</a:t>
            </a:r>
            <a:endParaRPr lang="en-US" sz="568" dirty="0"/>
          </a:p>
        </p:txBody>
      </p:sp>
      <p:sp>
        <p:nvSpPr>
          <p:cNvPr id="61" name="Text 58"/>
          <p:cNvSpPr/>
          <p:nvPr/>
        </p:nvSpPr>
        <p:spPr>
          <a:xfrm>
            <a:off x="7718822" y="1748433"/>
            <a:ext cx="6036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(enum)</a:t>
            </a:r>
            <a:endParaRPr lang="en-US" sz="568" dirty="0"/>
          </a:p>
        </p:txBody>
      </p:sp>
      <p:sp>
        <p:nvSpPr>
          <p:cNvPr id="62" name="Text 59"/>
          <p:cNvSpPr/>
          <p:nvPr/>
        </p:nvSpPr>
        <p:spPr>
          <a:xfrm>
            <a:off x="4357688" y="1880592"/>
            <a:ext cx="46434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confidence</a:t>
            </a:r>
            <a:endParaRPr lang="en-US" sz="568" dirty="0"/>
          </a:p>
        </p:txBody>
      </p:sp>
      <p:sp>
        <p:nvSpPr>
          <p:cNvPr id="63" name="Text 60"/>
          <p:cNvSpPr/>
          <p:nvPr/>
        </p:nvSpPr>
        <p:spPr>
          <a:xfrm>
            <a:off x="4879181" y="1880592"/>
            <a:ext cx="2321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notes</a:t>
            </a:r>
            <a:endParaRPr lang="en-US" sz="568" dirty="0"/>
          </a:p>
        </p:txBody>
      </p:sp>
      <p:sp>
        <p:nvSpPr>
          <p:cNvPr id="64" name="Text 61"/>
          <p:cNvSpPr/>
          <p:nvPr/>
        </p:nvSpPr>
        <p:spPr>
          <a:xfrm>
            <a:off x="5168503" y="1880592"/>
            <a:ext cx="46434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resolvedAt</a:t>
            </a:r>
            <a:endParaRPr lang="en-US" sz="568" dirty="0"/>
          </a:p>
        </p:txBody>
      </p:sp>
      <p:sp>
        <p:nvSpPr>
          <p:cNvPr id="65" name="Shape 62"/>
          <p:cNvSpPr/>
          <p:nvPr/>
        </p:nvSpPr>
        <p:spPr>
          <a:xfrm>
            <a:off x="4257675" y="2127052"/>
            <a:ext cx="4600575" cy="47684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6" name="Shape 63"/>
          <p:cNvSpPr/>
          <p:nvPr/>
        </p:nvSpPr>
        <p:spPr>
          <a:xfrm>
            <a:off x="4257675" y="2127052"/>
            <a:ext cx="4600575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7" name="Text 64"/>
          <p:cNvSpPr/>
          <p:nvPr/>
        </p:nvSpPr>
        <p:spPr>
          <a:xfrm>
            <a:off x="4357688" y="2184202"/>
            <a:ext cx="55364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categories</a:t>
            </a:r>
            <a:endParaRPr lang="en-US" sz="634" dirty="0"/>
          </a:p>
        </p:txBody>
      </p:sp>
      <p:sp>
        <p:nvSpPr>
          <p:cNvPr id="68" name="Text 65"/>
          <p:cNvSpPr/>
          <p:nvPr/>
        </p:nvSpPr>
        <p:spPr>
          <a:xfrm>
            <a:off x="8293894" y="2202954"/>
            <a:ext cx="4643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CRUD ADMIN</a:t>
            </a:r>
            <a:endParaRPr lang="en-US" sz="463" dirty="0"/>
          </a:p>
        </p:txBody>
      </p:sp>
      <p:sp>
        <p:nvSpPr>
          <p:cNvPr id="69" name="Text 66"/>
          <p:cNvSpPr/>
          <p:nvPr/>
        </p:nvSpPr>
        <p:spPr>
          <a:xfrm>
            <a:off x="4357688" y="2428875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(PK)</a:t>
            </a:r>
            <a:endParaRPr lang="en-US" sz="568" dirty="0"/>
          </a:p>
        </p:txBody>
      </p:sp>
      <p:sp>
        <p:nvSpPr>
          <p:cNvPr id="70" name="Text 67"/>
          <p:cNvSpPr/>
          <p:nvPr/>
        </p:nvSpPr>
        <p:spPr>
          <a:xfrm>
            <a:off x="4739878" y="2428875"/>
            <a:ext cx="1857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568" dirty="0"/>
          </a:p>
        </p:txBody>
      </p:sp>
      <p:sp>
        <p:nvSpPr>
          <p:cNvPr id="71" name="Text 68"/>
          <p:cNvSpPr/>
          <p:nvPr/>
        </p:nvSpPr>
        <p:spPr>
          <a:xfrm>
            <a:off x="4982766" y="2428875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endParaRPr lang="en-US" sz="568" dirty="0"/>
          </a:p>
        </p:txBody>
      </p:sp>
      <p:sp>
        <p:nvSpPr>
          <p:cNvPr id="72" name="Text 69"/>
          <p:cNvSpPr/>
          <p:nvPr/>
        </p:nvSpPr>
        <p:spPr>
          <a:xfrm>
            <a:off x="5550694" y="2428875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riskLevel (enum)</a:t>
            </a:r>
            <a:endParaRPr lang="en-US" sz="568" dirty="0"/>
          </a:p>
        </p:txBody>
      </p:sp>
      <p:sp>
        <p:nvSpPr>
          <p:cNvPr id="73" name="Text 70"/>
          <p:cNvSpPr/>
          <p:nvPr/>
        </p:nvSpPr>
        <p:spPr>
          <a:xfrm>
            <a:off x="6350794" y="2428875"/>
            <a:ext cx="417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createdAt</a:t>
            </a:r>
            <a:endParaRPr lang="en-US" sz="568" dirty="0"/>
          </a:p>
        </p:txBody>
      </p:sp>
      <p:sp>
        <p:nvSpPr>
          <p:cNvPr id="74" name="Shape 71"/>
          <p:cNvSpPr/>
          <p:nvPr/>
        </p:nvSpPr>
        <p:spPr>
          <a:xfrm>
            <a:off x="4257675" y="2675334"/>
            <a:ext cx="4600575" cy="47684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5" name="Shape 72"/>
          <p:cNvSpPr/>
          <p:nvPr/>
        </p:nvSpPr>
        <p:spPr>
          <a:xfrm>
            <a:off x="4257675" y="2675334"/>
            <a:ext cx="4600575" cy="14288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76" name="Text 73"/>
          <p:cNvSpPr/>
          <p:nvPr/>
        </p:nvSpPr>
        <p:spPr>
          <a:xfrm>
            <a:off x="4357688" y="2732484"/>
            <a:ext cx="88582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incident_history</a:t>
            </a:r>
            <a:endParaRPr lang="en-US" sz="634" dirty="0"/>
          </a:p>
        </p:txBody>
      </p:sp>
      <p:sp>
        <p:nvSpPr>
          <p:cNvPr id="77" name="Text 74"/>
          <p:cNvSpPr/>
          <p:nvPr/>
        </p:nvSpPr>
        <p:spPr>
          <a:xfrm>
            <a:off x="7504509" y="2751237"/>
            <a:ext cx="125372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AUDITORIA · TRILHA COMPLETA</a:t>
            </a:r>
            <a:endParaRPr lang="en-US" sz="463" dirty="0"/>
          </a:p>
        </p:txBody>
      </p:sp>
      <p:sp>
        <p:nvSpPr>
          <p:cNvPr id="78" name="Text 75"/>
          <p:cNvSpPr/>
          <p:nvPr/>
        </p:nvSpPr>
        <p:spPr>
          <a:xfrm>
            <a:off x="4357688" y="2977158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(PK)</a:t>
            </a:r>
            <a:endParaRPr lang="en-US" sz="568" dirty="0"/>
          </a:p>
        </p:txBody>
      </p:sp>
      <p:sp>
        <p:nvSpPr>
          <p:cNvPr id="79" name="Text 76"/>
          <p:cNvSpPr/>
          <p:nvPr/>
        </p:nvSpPr>
        <p:spPr>
          <a:xfrm>
            <a:off x="4739878" y="2977158"/>
            <a:ext cx="6965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incidentId (FK)</a:t>
            </a:r>
            <a:endParaRPr lang="en-US" sz="568" dirty="0"/>
          </a:p>
        </p:txBody>
      </p:sp>
      <p:sp>
        <p:nvSpPr>
          <p:cNvPr id="80" name="Text 77"/>
          <p:cNvSpPr/>
          <p:nvPr/>
        </p:nvSpPr>
        <p:spPr>
          <a:xfrm>
            <a:off x="5493544" y="2977158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userId (FK)</a:t>
            </a:r>
            <a:endParaRPr lang="en-US" sz="568" dirty="0"/>
          </a:p>
        </p:txBody>
      </p:sp>
      <p:sp>
        <p:nvSpPr>
          <p:cNvPr id="81" name="Text 78"/>
          <p:cNvSpPr/>
          <p:nvPr/>
        </p:nvSpPr>
        <p:spPr>
          <a:xfrm>
            <a:off x="6061472" y="2977158"/>
            <a:ext cx="2321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</a:t>
            </a:r>
            <a:endParaRPr lang="en-US" sz="568" dirty="0"/>
          </a:p>
        </p:txBody>
      </p:sp>
      <p:sp>
        <p:nvSpPr>
          <p:cNvPr id="82" name="Text 79"/>
          <p:cNvSpPr/>
          <p:nvPr/>
        </p:nvSpPr>
        <p:spPr>
          <a:xfrm>
            <a:off x="6350794" y="2977158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oldValue</a:t>
            </a:r>
            <a:endParaRPr lang="en-US" sz="568" dirty="0"/>
          </a:p>
        </p:txBody>
      </p:sp>
      <p:sp>
        <p:nvSpPr>
          <p:cNvPr id="83" name="Text 80"/>
          <p:cNvSpPr/>
          <p:nvPr/>
        </p:nvSpPr>
        <p:spPr>
          <a:xfrm>
            <a:off x="6779419" y="2977158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newValue</a:t>
            </a:r>
            <a:endParaRPr lang="en-US" sz="568" dirty="0"/>
          </a:p>
        </p:txBody>
      </p:sp>
      <p:sp>
        <p:nvSpPr>
          <p:cNvPr id="84" name="Text 81"/>
          <p:cNvSpPr/>
          <p:nvPr/>
        </p:nvSpPr>
        <p:spPr>
          <a:xfrm>
            <a:off x="7208044" y="2977158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comment</a:t>
            </a:r>
            <a:endParaRPr lang="en-US" sz="568" dirty="0"/>
          </a:p>
        </p:txBody>
      </p:sp>
      <p:sp>
        <p:nvSpPr>
          <p:cNvPr id="85" name="Text 82"/>
          <p:cNvSpPr/>
          <p:nvPr/>
        </p:nvSpPr>
        <p:spPr>
          <a:xfrm>
            <a:off x="7590234" y="2977158"/>
            <a:ext cx="417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createdAt</a:t>
            </a:r>
            <a:endParaRPr lang="en-US" sz="568" dirty="0"/>
          </a:p>
        </p:txBody>
      </p:sp>
      <p:sp>
        <p:nvSpPr>
          <p:cNvPr id="86" name="Shape 83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8" name="Text 85"/>
          <p:cNvSpPr/>
          <p:nvPr/>
        </p:nvSpPr>
        <p:spPr>
          <a:xfrm>
            <a:off x="214313" y="4962227"/>
            <a:ext cx="145018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Banco de Dados</a:t>
            </a:r>
            <a:endParaRPr lang="en-US" sz="516" dirty="0"/>
          </a:p>
        </p:txBody>
      </p:sp>
      <p:sp>
        <p:nvSpPr>
          <p:cNvPr id="89" name="Text 86"/>
          <p:cNvSpPr/>
          <p:nvPr/>
        </p:nvSpPr>
        <p:spPr>
          <a:xfrm>
            <a:off x="6720483" y="4961334"/>
            <a:ext cx="199489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Frontend + Banco de Dados</a:t>
            </a:r>
            <a:endParaRPr lang="en-US" sz="5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9288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17934"/>
            <a:ext cx="215026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DE CLASSIFICAÇÃO</a:t>
            </a:r>
            <a:endParaRPr lang="en-US" sz="516" dirty="0"/>
          </a:p>
        </p:txBody>
      </p:sp>
      <p:sp>
        <p:nvSpPr>
          <p:cNvPr id="9" name="Shape 6"/>
          <p:cNvSpPr/>
          <p:nvPr/>
        </p:nvSpPr>
        <p:spPr>
          <a:xfrm>
            <a:off x="357188" y="841177"/>
            <a:ext cx="2150269" cy="4089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41189"/>
            <a:ext cx="157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700088" y="926902"/>
            <a:ext cx="17073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de Texto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700088" y="1060847"/>
            <a:ext cx="17073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título + descrição do incidente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357188" y="1250156"/>
            <a:ext cx="2150269" cy="175022"/>
          </a:xfrm>
          <a:prstGeom prst="rect">
            <a:avLst/>
          </a:prstGeom>
          <a:noFill/>
          <a:ln/>
        </p:spPr>
        <p:txBody>
          <a:bodyPr wrap="none" lIns="0" tIns="25527" rIns="0" bIns="2552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357188" y="1425178"/>
            <a:ext cx="2150269" cy="4089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525191"/>
            <a:ext cx="157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34" dirty="0"/>
          </a:p>
        </p:txBody>
      </p:sp>
      <p:sp>
        <p:nvSpPr>
          <p:cNvPr id="16" name="Text 13"/>
          <p:cNvSpPr/>
          <p:nvPr/>
        </p:nvSpPr>
        <p:spPr>
          <a:xfrm>
            <a:off x="700088" y="1510903"/>
            <a:ext cx="17073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Vectorizer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700088" y="1644848"/>
            <a:ext cx="17073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5.000 features · bigramas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357188" y="1834158"/>
            <a:ext cx="2150269" cy="175022"/>
          </a:xfrm>
          <a:prstGeom prst="rect">
            <a:avLst/>
          </a:prstGeom>
          <a:noFill/>
          <a:ln/>
        </p:spPr>
        <p:txBody>
          <a:bodyPr wrap="none" lIns="0" tIns="25527" rIns="0" bIns="2552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57188" y="2009180"/>
            <a:ext cx="2150269" cy="4089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109192"/>
            <a:ext cx="157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34" dirty="0"/>
          </a:p>
        </p:txBody>
      </p:sp>
      <p:sp>
        <p:nvSpPr>
          <p:cNvPr id="21" name="Text 18"/>
          <p:cNvSpPr/>
          <p:nvPr/>
        </p:nvSpPr>
        <p:spPr>
          <a:xfrm>
            <a:off x="700088" y="2094905"/>
            <a:ext cx="17073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Multinomial Naive Bayes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700088" y="2228850"/>
            <a:ext cx="17073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alpha=0.1 · scikit-learn</a:t>
            </a:r>
            <a:endParaRPr lang="en-US" sz="568" dirty="0"/>
          </a:p>
        </p:txBody>
      </p:sp>
      <p:sp>
        <p:nvSpPr>
          <p:cNvPr id="23" name="Text 20"/>
          <p:cNvSpPr/>
          <p:nvPr/>
        </p:nvSpPr>
        <p:spPr>
          <a:xfrm>
            <a:off x="357188" y="2418159"/>
            <a:ext cx="2150269" cy="175022"/>
          </a:xfrm>
          <a:prstGeom prst="rect">
            <a:avLst/>
          </a:prstGeom>
          <a:noFill/>
          <a:ln/>
        </p:spPr>
        <p:txBody>
          <a:bodyPr wrap="none" lIns="0" tIns="25527" rIns="0" bIns="2552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357188" y="2593181"/>
            <a:ext cx="2150269" cy="4089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2693194"/>
            <a:ext cx="157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534" dirty="0"/>
          </a:p>
        </p:txBody>
      </p:sp>
      <p:sp>
        <p:nvSpPr>
          <p:cNvPr id="26" name="Text 23"/>
          <p:cNvSpPr/>
          <p:nvPr/>
        </p:nvSpPr>
        <p:spPr>
          <a:xfrm>
            <a:off x="700088" y="2678906"/>
            <a:ext cx="17073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700088" y="2812852"/>
            <a:ext cx="17073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categoria + score de confiança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2914650" y="617934"/>
            <a:ext cx="302180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CATEGORIAS CLASSIFICADAS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2914650" y="841177"/>
            <a:ext cx="1888629" cy="173236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CATEGORIA</a:t>
            </a:r>
            <a:endParaRPr lang="en-US" sz="485" dirty="0"/>
          </a:p>
        </p:txBody>
      </p:sp>
      <p:sp>
        <p:nvSpPr>
          <p:cNvPr id="30" name="Text 27"/>
          <p:cNvSpPr/>
          <p:nvPr/>
        </p:nvSpPr>
        <p:spPr>
          <a:xfrm>
            <a:off x="4803279" y="841177"/>
            <a:ext cx="1133177" cy="173236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RISCO</a:t>
            </a:r>
            <a:endParaRPr lang="en-US" sz="485" dirty="0"/>
          </a:p>
        </p:txBody>
      </p:sp>
      <p:sp>
        <p:nvSpPr>
          <p:cNvPr id="31" name="Text 28"/>
          <p:cNvSpPr/>
          <p:nvPr/>
        </p:nvSpPr>
        <p:spPr>
          <a:xfrm>
            <a:off x="2914650" y="1092994"/>
            <a:ext cx="18886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2914650" y="1219795"/>
            <a:ext cx="188862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 falso, link suspeito, engenharia social</a:t>
            </a:r>
            <a:endParaRPr lang="en-US" sz="568" dirty="0"/>
          </a:p>
        </p:txBody>
      </p:sp>
      <p:sp>
        <p:nvSpPr>
          <p:cNvPr id="33" name="Shape 30"/>
          <p:cNvSpPr/>
          <p:nvPr/>
        </p:nvSpPr>
        <p:spPr>
          <a:xfrm>
            <a:off x="4803279" y="1101923"/>
            <a:ext cx="328613" cy="151805"/>
          </a:xfrm>
          <a:prstGeom prst="rect">
            <a:avLst/>
          </a:prstGeom>
          <a:solidFill>
            <a:srgbClr val="FF8A00">
              <a:alpha val="15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3279" y="1101923"/>
            <a:ext cx="328613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ALTO</a:t>
            </a:r>
            <a:endParaRPr lang="en-US" sz="485" dirty="0"/>
          </a:p>
        </p:txBody>
      </p:sp>
      <p:sp>
        <p:nvSpPr>
          <p:cNvPr id="35" name="Text 32"/>
          <p:cNvSpPr/>
          <p:nvPr/>
        </p:nvSpPr>
        <p:spPr>
          <a:xfrm>
            <a:off x="2914650" y="1466255"/>
            <a:ext cx="18886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2914650" y="1593056"/>
            <a:ext cx="188862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vírus, ransomware, trojan, criptografia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4803279" y="1475184"/>
            <a:ext cx="478631" cy="151805"/>
          </a:xfrm>
          <a:prstGeom prst="rect">
            <a:avLst/>
          </a:prstGeom>
          <a:solidFill>
            <a:srgbClr val="FF4D4F">
              <a:alpha val="15000"/>
            </a:srgbClr>
          </a:solidFill>
          <a:ln w="9144">
            <a:solidFill>
              <a:srgbClr val="FF4D4F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03279" y="1475184"/>
            <a:ext cx="478631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F4D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CRÍTICO</a:t>
            </a:r>
            <a:endParaRPr lang="en-US" sz="485" dirty="0"/>
          </a:p>
        </p:txBody>
      </p:sp>
      <p:sp>
        <p:nvSpPr>
          <p:cNvPr id="39" name="Text 36"/>
          <p:cNvSpPr/>
          <p:nvPr/>
        </p:nvSpPr>
        <p:spPr>
          <a:xfrm>
            <a:off x="2914650" y="1839516"/>
            <a:ext cx="18886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Força Bruta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2914650" y="1966317"/>
            <a:ext cx="188862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tentativas de login, bloqueio de conta</a:t>
            </a:r>
            <a:endParaRPr lang="en-US" sz="568" dirty="0"/>
          </a:p>
        </p:txBody>
      </p:sp>
      <p:sp>
        <p:nvSpPr>
          <p:cNvPr id="41" name="Shape 38"/>
          <p:cNvSpPr/>
          <p:nvPr/>
        </p:nvSpPr>
        <p:spPr>
          <a:xfrm>
            <a:off x="4803279" y="1848445"/>
            <a:ext cx="328613" cy="151805"/>
          </a:xfrm>
          <a:prstGeom prst="rect">
            <a:avLst/>
          </a:prstGeom>
          <a:solidFill>
            <a:srgbClr val="FF8A00">
              <a:alpha val="15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3279" y="1848445"/>
            <a:ext cx="328613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ALTO</a:t>
            </a:r>
            <a:endParaRPr lang="en-US" sz="485" dirty="0"/>
          </a:p>
        </p:txBody>
      </p:sp>
      <p:sp>
        <p:nvSpPr>
          <p:cNvPr id="43" name="Text 40"/>
          <p:cNvSpPr/>
          <p:nvPr/>
        </p:nvSpPr>
        <p:spPr>
          <a:xfrm>
            <a:off x="2914650" y="2212777"/>
            <a:ext cx="18886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2914650" y="2339578"/>
            <a:ext cx="188862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negação de serviço, tráfego anômalo</a:t>
            </a:r>
            <a:endParaRPr lang="en-US" sz="568" dirty="0"/>
          </a:p>
        </p:txBody>
      </p:sp>
      <p:sp>
        <p:nvSpPr>
          <p:cNvPr id="45" name="Shape 42"/>
          <p:cNvSpPr/>
          <p:nvPr/>
        </p:nvSpPr>
        <p:spPr>
          <a:xfrm>
            <a:off x="4803279" y="2221706"/>
            <a:ext cx="378619" cy="151805"/>
          </a:xfrm>
          <a:prstGeom prst="rect">
            <a:avLst/>
          </a:prstGeom>
          <a:solidFill>
            <a:srgbClr val="FFD600">
              <a:alpha val="15000"/>
            </a:srgbClr>
          </a:solidFill>
          <a:ln w="9144">
            <a:solidFill>
              <a:srgbClr val="FFD600">
                <a:alpha val="3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3279" y="2221706"/>
            <a:ext cx="37861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FD6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MÉDIO</a:t>
            </a:r>
            <a:endParaRPr lang="en-US" sz="485" dirty="0"/>
          </a:p>
        </p:txBody>
      </p:sp>
      <p:sp>
        <p:nvSpPr>
          <p:cNvPr id="47" name="Text 44"/>
          <p:cNvSpPr/>
          <p:nvPr/>
        </p:nvSpPr>
        <p:spPr>
          <a:xfrm>
            <a:off x="2914650" y="2586038"/>
            <a:ext cx="18886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Vazamento de Dados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2914650" y="2712839"/>
            <a:ext cx="188862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exposição, LGPD, exfiltração de dados</a:t>
            </a:r>
            <a:endParaRPr lang="en-US" sz="568" dirty="0"/>
          </a:p>
        </p:txBody>
      </p:sp>
      <p:sp>
        <p:nvSpPr>
          <p:cNvPr id="49" name="Shape 46"/>
          <p:cNvSpPr/>
          <p:nvPr/>
        </p:nvSpPr>
        <p:spPr>
          <a:xfrm>
            <a:off x="4803279" y="2594967"/>
            <a:ext cx="478631" cy="151805"/>
          </a:xfrm>
          <a:prstGeom prst="rect">
            <a:avLst/>
          </a:prstGeom>
          <a:solidFill>
            <a:srgbClr val="FF4D4F">
              <a:alpha val="15000"/>
            </a:srgbClr>
          </a:solidFill>
          <a:ln w="9144">
            <a:solidFill>
              <a:srgbClr val="FF4D4F">
                <a:alpha val="3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03279" y="2594967"/>
            <a:ext cx="478631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F4D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CRÍTICO</a:t>
            </a:r>
            <a:endParaRPr lang="en-US" sz="485" dirty="0"/>
          </a:p>
        </p:txBody>
      </p:sp>
      <p:sp>
        <p:nvSpPr>
          <p:cNvPr id="51" name="Text 48"/>
          <p:cNvSpPr/>
          <p:nvPr/>
        </p:nvSpPr>
        <p:spPr>
          <a:xfrm>
            <a:off x="6343650" y="617934"/>
            <a:ext cx="25146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MÉTRICAS DO MODELO</a:t>
            </a:r>
            <a:endParaRPr lang="en-US" sz="516" dirty="0"/>
          </a:p>
        </p:txBody>
      </p:sp>
      <p:sp>
        <p:nvSpPr>
          <p:cNvPr id="52" name="Shape 49"/>
          <p:cNvSpPr/>
          <p:nvPr/>
        </p:nvSpPr>
        <p:spPr>
          <a:xfrm>
            <a:off x="6343650" y="955477"/>
            <a:ext cx="2514600" cy="69115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3" name="Text 50"/>
          <p:cNvSpPr/>
          <p:nvPr/>
        </p:nvSpPr>
        <p:spPr>
          <a:xfrm>
            <a:off x="6457950" y="1069777"/>
            <a:ext cx="2286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226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97%</a:t>
            </a:r>
            <a:endParaRPr lang="en-US" sz="2226" dirty="0"/>
          </a:p>
        </p:txBody>
      </p:sp>
      <p:sp>
        <p:nvSpPr>
          <p:cNvPr id="54" name="Text 51"/>
          <p:cNvSpPr/>
          <p:nvPr/>
        </p:nvSpPr>
        <p:spPr>
          <a:xfrm>
            <a:off x="6457950" y="1426964"/>
            <a:ext cx="228600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— Cross-Validation 5-fold</a:t>
            </a:r>
            <a:endParaRPr lang="en-US" sz="621" dirty="0"/>
          </a:p>
        </p:txBody>
      </p:sp>
      <p:sp>
        <p:nvSpPr>
          <p:cNvPr id="55" name="Shape 52"/>
          <p:cNvSpPr/>
          <p:nvPr/>
        </p:nvSpPr>
        <p:spPr>
          <a:xfrm>
            <a:off x="6343650" y="1760934"/>
            <a:ext cx="2514600" cy="130016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43663" y="1896666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7922419" y="1896666"/>
            <a:ext cx="8358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amostras reais</a:t>
            </a:r>
            <a:endParaRPr lang="en-US" sz="534" dirty="0"/>
          </a:p>
        </p:txBody>
      </p:sp>
      <p:sp>
        <p:nvSpPr>
          <p:cNvPr id="58" name="Text 55"/>
          <p:cNvSpPr/>
          <p:nvPr/>
        </p:nvSpPr>
        <p:spPr>
          <a:xfrm>
            <a:off x="6443663" y="2078831"/>
            <a:ext cx="417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Algoritmo</a:t>
            </a:r>
            <a:endParaRPr lang="en-US" sz="568" dirty="0"/>
          </a:p>
        </p:txBody>
      </p:sp>
      <p:sp>
        <p:nvSpPr>
          <p:cNvPr id="59" name="Text 56"/>
          <p:cNvSpPr/>
          <p:nvPr/>
        </p:nvSpPr>
        <p:spPr>
          <a:xfrm>
            <a:off x="7829550" y="2078831"/>
            <a:ext cx="9286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TF-IDF + Naive Bayes</a:t>
            </a:r>
            <a:endParaRPr lang="en-US" sz="534" dirty="0"/>
          </a:p>
        </p:txBody>
      </p:sp>
      <p:sp>
        <p:nvSpPr>
          <p:cNvPr id="60" name="Text 57"/>
          <p:cNvSpPr/>
          <p:nvPr/>
        </p:nvSpPr>
        <p:spPr>
          <a:xfrm>
            <a:off x="6443663" y="2260997"/>
            <a:ext cx="6036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 máx.</a:t>
            </a:r>
            <a:endParaRPr lang="en-US" sz="568" dirty="0"/>
          </a:p>
        </p:txBody>
      </p:sp>
      <p:sp>
        <p:nvSpPr>
          <p:cNvPr id="61" name="Text 58"/>
          <p:cNvSpPr/>
          <p:nvPr/>
        </p:nvSpPr>
        <p:spPr>
          <a:xfrm>
            <a:off x="8526066" y="2260997"/>
            <a:ext cx="2321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5.000</a:t>
            </a:r>
            <a:endParaRPr lang="en-US" sz="534" dirty="0"/>
          </a:p>
        </p:txBody>
      </p:sp>
      <p:sp>
        <p:nvSpPr>
          <p:cNvPr id="62" name="Text 59"/>
          <p:cNvSpPr/>
          <p:nvPr/>
        </p:nvSpPr>
        <p:spPr>
          <a:xfrm>
            <a:off x="6443663" y="2443163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N-gramas</a:t>
            </a:r>
            <a:endParaRPr lang="en-US" sz="568" dirty="0"/>
          </a:p>
        </p:txBody>
      </p:sp>
      <p:sp>
        <p:nvSpPr>
          <p:cNvPr id="63" name="Text 60"/>
          <p:cNvSpPr/>
          <p:nvPr/>
        </p:nvSpPr>
        <p:spPr>
          <a:xfrm>
            <a:off x="8108156" y="2443163"/>
            <a:ext cx="65008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 + bigramas</a:t>
            </a:r>
            <a:endParaRPr lang="en-US" sz="534" dirty="0"/>
          </a:p>
        </p:txBody>
      </p:sp>
      <p:sp>
        <p:nvSpPr>
          <p:cNvPr id="64" name="Text 61"/>
          <p:cNvSpPr/>
          <p:nvPr/>
        </p:nvSpPr>
        <p:spPr>
          <a:xfrm>
            <a:off x="6443663" y="2625328"/>
            <a:ext cx="6036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Retreinamento</a:t>
            </a:r>
            <a:endParaRPr lang="en-US" sz="568" dirty="0"/>
          </a:p>
        </p:txBody>
      </p:sp>
      <p:sp>
        <p:nvSpPr>
          <p:cNvPr id="65" name="Text 62"/>
          <p:cNvSpPr/>
          <p:nvPr/>
        </p:nvSpPr>
        <p:spPr>
          <a:xfrm>
            <a:off x="8015288" y="2625328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Dinâmico (banco)</a:t>
            </a:r>
            <a:endParaRPr lang="en-US" sz="534" dirty="0"/>
          </a:p>
        </p:txBody>
      </p:sp>
      <p:sp>
        <p:nvSpPr>
          <p:cNvPr id="66" name="Text 63"/>
          <p:cNvSpPr/>
          <p:nvPr/>
        </p:nvSpPr>
        <p:spPr>
          <a:xfrm>
            <a:off x="6443663" y="2807494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</a:t>
            </a:r>
            <a:endParaRPr lang="en-US" sz="568" dirty="0"/>
          </a:p>
        </p:txBody>
      </p:sp>
      <p:sp>
        <p:nvSpPr>
          <p:cNvPr id="67" name="Text 64"/>
          <p:cNvSpPr/>
          <p:nvPr/>
        </p:nvSpPr>
        <p:spPr>
          <a:xfrm>
            <a:off x="7875984" y="2807494"/>
            <a:ext cx="8822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3.11 · Flask</a:t>
            </a:r>
            <a:endParaRPr lang="en-US" sz="534" dirty="0"/>
          </a:p>
        </p:txBody>
      </p:sp>
      <p:sp>
        <p:nvSpPr>
          <p:cNvPr id="68" name="Text 65"/>
          <p:cNvSpPr/>
          <p:nvPr/>
        </p:nvSpPr>
        <p:spPr>
          <a:xfrm>
            <a:off x="6343650" y="4295180"/>
            <a:ext cx="25146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RESPONSÁVEIS</a:t>
            </a:r>
            <a:endParaRPr lang="en-US" sz="516" dirty="0"/>
          </a:p>
        </p:txBody>
      </p:sp>
      <p:sp>
        <p:nvSpPr>
          <p:cNvPr id="69" name="Shape 66"/>
          <p:cNvSpPr/>
          <p:nvPr/>
        </p:nvSpPr>
        <p:spPr>
          <a:xfrm>
            <a:off x="6343650" y="4446984"/>
            <a:ext cx="657225" cy="307181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29375" y="4482703"/>
            <a:ext cx="47148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endParaRPr lang="en-US" sz="634" dirty="0"/>
          </a:p>
        </p:txBody>
      </p:sp>
      <p:sp>
        <p:nvSpPr>
          <p:cNvPr id="71" name="Text 68"/>
          <p:cNvSpPr/>
          <p:nvPr/>
        </p:nvSpPr>
        <p:spPr>
          <a:xfrm>
            <a:off x="6429375" y="4609505"/>
            <a:ext cx="4714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Engineer</a:t>
            </a:r>
            <a:endParaRPr lang="en-US" sz="516" dirty="0"/>
          </a:p>
        </p:txBody>
      </p:sp>
      <p:sp>
        <p:nvSpPr>
          <p:cNvPr id="72" name="Shape 69"/>
          <p:cNvSpPr/>
          <p:nvPr/>
        </p:nvSpPr>
        <p:spPr>
          <a:xfrm>
            <a:off x="7072313" y="4446984"/>
            <a:ext cx="742950" cy="307181"/>
          </a:xfrm>
          <a:prstGeom prst="rect">
            <a:avLst/>
          </a:prstGeom>
          <a:solidFill>
            <a:srgbClr val="00B4D8">
              <a:alpha val="10000"/>
            </a:srgbClr>
          </a:solidFill>
          <a:ln w="9144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158038" y="4496991"/>
            <a:ext cx="5572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634" dirty="0"/>
          </a:p>
        </p:txBody>
      </p:sp>
      <p:sp>
        <p:nvSpPr>
          <p:cNvPr id="74" name="Text 71"/>
          <p:cNvSpPr/>
          <p:nvPr/>
        </p:nvSpPr>
        <p:spPr>
          <a:xfrm>
            <a:off x="7158038" y="4623792"/>
            <a:ext cx="55721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ML</a:t>
            </a:r>
            <a:endParaRPr lang="en-US" sz="516" dirty="0"/>
          </a:p>
        </p:txBody>
      </p:sp>
      <p:sp>
        <p:nvSpPr>
          <p:cNvPr id="75" name="Shape 72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7" name="Text 74"/>
          <p:cNvSpPr/>
          <p:nvPr/>
        </p:nvSpPr>
        <p:spPr>
          <a:xfrm>
            <a:off x="214313" y="4962227"/>
            <a:ext cx="11501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Stack ML</a:t>
            </a:r>
            <a:endParaRPr lang="en-US" sz="516" dirty="0"/>
          </a:p>
        </p:txBody>
      </p:sp>
      <p:sp>
        <p:nvSpPr>
          <p:cNvPr id="78" name="Text 75"/>
          <p:cNvSpPr/>
          <p:nvPr/>
        </p:nvSpPr>
        <p:spPr>
          <a:xfrm>
            <a:off x="7572375" y="4961334"/>
            <a:ext cx="1143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5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26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7448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63936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1071563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725091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63" dirty="0"/>
          </a:p>
        </p:txBody>
      </p:sp>
      <p:sp>
        <p:nvSpPr>
          <p:cNvPr id="11" name="Shape 8"/>
          <p:cNvSpPr/>
          <p:nvPr/>
        </p:nvSpPr>
        <p:spPr>
          <a:xfrm>
            <a:off x="385763" y="660797"/>
            <a:ext cx="785813" cy="31075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</a:t>
            </a:r>
            <a:endParaRPr lang="en-US" sz="534" dirty="0"/>
          </a:p>
        </p:txBody>
      </p:sp>
      <p:sp>
        <p:nvSpPr>
          <p:cNvPr id="13" name="Text 10"/>
          <p:cNvSpPr/>
          <p:nvPr/>
        </p:nvSpPr>
        <p:spPr>
          <a:xfrm>
            <a:off x="457200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+ Zod</a:t>
            </a:r>
            <a:endParaRPr lang="en-US" sz="463" dirty="0"/>
          </a:p>
        </p:txBody>
      </p:sp>
      <p:sp>
        <p:nvSpPr>
          <p:cNvPr id="14" name="Text 11"/>
          <p:cNvSpPr/>
          <p:nvPr/>
        </p:nvSpPr>
        <p:spPr>
          <a:xfrm>
            <a:off x="1200150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693794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63" dirty="0"/>
          </a:p>
        </p:txBody>
      </p:sp>
      <p:sp>
        <p:nvSpPr>
          <p:cNvPr id="16" name="Shape 13"/>
          <p:cNvSpPr/>
          <p:nvPr/>
        </p:nvSpPr>
        <p:spPr>
          <a:xfrm>
            <a:off x="1354466" y="660797"/>
            <a:ext cx="785813" cy="310753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25904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1425904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 input</a:t>
            </a:r>
            <a:endParaRPr lang="en-US" sz="463" dirty="0"/>
          </a:p>
        </p:txBody>
      </p:sp>
      <p:sp>
        <p:nvSpPr>
          <p:cNvPr id="19" name="Text 16"/>
          <p:cNvSpPr/>
          <p:nvPr/>
        </p:nvSpPr>
        <p:spPr>
          <a:xfrm>
            <a:off x="2168854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662498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63" dirty="0"/>
          </a:p>
        </p:txBody>
      </p:sp>
      <p:sp>
        <p:nvSpPr>
          <p:cNvPr id="21" name="Shape 18"/>
          <p:cNvSpPr/>
          <p:nvPr/>
        </p:nvSpPr>
        <p:spPr>
          <a:xfrm>
            <a:off x="2323170" y="660797"/>
            <a:ext cx="785813" cy="310753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94607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</a:t>
            </a:r>
            <a:endParaRPr lang="en-US" sz="534" dirty="0"/>
          </a:p>
        </p:txBody>
      </p:sp>
      <p:sp>
        <p:nvSpPr>
          <p:cNvPr id="23" name="Text 20"/>
          <p:cNvSpPr/>
          <p:nvPr/>
        </p:nvSpPr>
        <p:spPr>
          <a:xfrm>
            <a:off x="2394607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 :3000</a:t>
            </a:r>
            <a:endParaRPr lang="en-US" sz="463" dirty="0"/>
          </a:p>
        </p:txBody>
      </p:sp>
      <p:sp>
        <p:nvSpPr>
          <p:cNvPr id="24" name="Text 21"/>
          <p:cNvSpPr/>
          <p:nvPr/>
        </p:nvSpPr>
        <p:spPr>
          <a:xfrm>
            <a:off x="3137557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3631202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63" dirty="0"/>
          </a:p>
        </p:txBody>
      </p:sp>
      <p:sp>
        <p:nvSpPr>
          <p:cNvPr id="26" name="Shape 23"/>
          <p:cNvSpPr/>
          <p:nvPr/>
        </p:nvSpPr>
        <p:spPr>
          <a:xfrm>
            <a:off x="3291873" y="660797"/>
            <a:ext cx="785813" cy="310753"/>
          </a:xfrm>
          <a:prstGeom prst="rect">
            <a:avLst/>
          </a:prstGeom>
          <a:solidFill>
            <a:srgbClr val="D2A8FF">
              <a:alpha val="6000"/>
            </a:srgbClr>
          </a:solidFill>
          <a:ln w="9144">
            <a:solidFill>
              <a:srgbClr val="D2A8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3311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ML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3363311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:5001 POST</a:t>
            </a:r>
            <a:endParaRPr lang="en-US" sz="463" dirty="0"/>
          </a:p>
        </p:txBody>
      </p:sp>
      <p:sp>
        <p:nvSpPr>
          <p:cNvPr id="29" name="Text 26"/>
          <p:cNvSpPr/>
          <p:nvPr/>
        </p:nvSpPr>
        <p:spPr>
          <a:xfrm>
            <a:off x="4106261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599905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63" dirty="0"/>
          </a:p>
        </p:txBody>
      </p:sp>
      <p:sp>
        <p:nvSpPr>
          <p:cNvPr id="31" name="Shape 28"/>
          <p:cNvSpPr/>
          <p:nvPr/>
        </p:nvSpPr>
        <p:spPr>
          <a:xfrm>
            <a:off x="4260577" y="660797"/>
            <a:ext cx="785813" cy="310753"/>
          </a:xfrm>
          <a:prstGeom prst="rect">
            <a:avLst/>
          </a:prstGeom>
          <a:solidFill>
            <a:srgbClr val="D2A8FF">
              <a:alpha val="6000"/>
            </a:srgbClr>
          </a:solidFill>
          <a:ln w="9144">
            <a:solidFill>
              <a:srgbClr val="D2A8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32015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+ NB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4332015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scikit-learn</a:t>
            </a:r>
            <a:endParaRPr lang="en-US" sz="463" dirty="0"/>
          </a:p>
        </p:txBody>
      </p:sp>
      <p:sp>
        <p:nvSpPr>
          <p:cNvPr id="34" name="Text 31"/>
          <p:cNvSpPr/>
          <p:nvPr/>
        </p:nvSpPr>
        <p:spPr>
          <a:xfrm>
            <a:off x="5074965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5568609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463" dirty="0"/>
          </a:p>
        </p:txBody>
      </p:sp>
      <p:sp>
        <p:nvSpPr>
          <p:cNvPr id="36" name="Shape 33"/>
          <p:cNvSpPr/>
          <p:nvPr/>
        </p:nvSpPr>
        <p:spPr>
          <a:xfrm>
            <a:off x="5229281" y="660797"/>
            <a:ext cx="785813" cy="310753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0718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5300718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confiança %</a:t>
            </a:r>
            <a:endParaRPr lang="en-US" sz="463" dirty="0"/>
          </a:p>
        </p:txBody>
      </p:sp>
      <p:sp>
        <p:nvSpPr>
          <p:cNvPr id="39" name="Text 36"/>
          <p:cNvSpPr/>
          <p:nvPr/>
        </p:nvSpPr>
        <p:spPr>
          <a:xfrm>
            <a:off x="6043668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6537313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463" dirty="0"/>
          </a:p>
        </p:txBody>
      </p:sp>
      <p:sp>
        <p:nvSpPr>
          <p:cNvPr id="41" name="Shape 38"/>
          <p:cNvSpPr/>
          <p:nvPr/>
        </p:nvSpPr>
        <p:spPr>
          <a:xfrm>
            <a:off x="6197984" y="660797"/>
            <a:ext cx="785813" cy="310753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69422" y="717947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TiDB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6269422" y="82867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Drizzle ORM</a:t>
            </a:r>
            <a:endParaRPr lang="en-US" sz="463" dirty="0"/>
          </a:p>
        </p:txBody>
      </p:sp>
      <p:sp>
        <p:nvSpPr>
          <p:cNvPr id="44" name="Text 41"/>
          <p:cNvSpPr/>
          <p:nvPr/>
        </p:nvSpPr>
        <p:spPr>
          <a:xfrm>
            <a:off x="7012372" y="731341"/>
            <a:ext cx="125741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7506016" y="546497"/>
            <a:ext cx="1071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463" dirty="0"/>
          </a:p>
        </p:txBody>
      </p:sp>
      <p:sp>
        <p:nvSpPr>
          <p:cNvPr id="46" name="Shape 43"/>
          <p:cNvSpPr/>
          <p:nvPr/>
        </p:nvSpPr>
        <p:spPr>
          <a:xfrm>
            <a:off x="7166688" y="660797"/>
            <a:ext cx="785813" cy="31075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38126" y="710803"/>
            <a:ext cx="64293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+ Alerta</a:t>
            </a:r>
            <a:endParaRPr lang="en-US" sz="534" dirty="0"/>
          </a:p>
        </p:txBody>
      </p:sp>
      <p:sp>
        <p:nvSpPr>
          <p:cNvPr id="48" name="Text 45"/>
          <p:cNvSpPr/>
          <p:nvPr/>
        </p:nvSpPr>
        <p:spPr>
          <a:xfrm>
            <a:off x="7238126" y="821531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 atualizada</a:t>
            </a:r>
            <a:endParaRPr lang="en-US" sz="463" dirty="0"/>
          </a:p>
        </p:txBody>
      </p:sp>
      <p:sp>
        <p:nvSpPr>
          <p:cNvPr id="49" name="Text 46"/>
          <p:cNvSpPr/>
          <p:nvPr/>
        </p:nvSpPr>
        <p:spPr>
          <a:xfrm>
            <a:off x="357188" y="1200150"/>
            <a:ext cx="40147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DIAGRAMA DE ARQUITETURA — CAMINHO DO DADO</a:t>
            </a:r>
            <a:endParaRPr lang="en-US" sz="516" dirty="0"/>
          </a:p>
        </p:txBody>
      </p:sp>
      <p:sp>
        <p:nvSpPr>
          <p:cNvPr id="50" name="Shape 47"/>
          <p:cNvSpPr/>
          <p:nvPr/>
        </p:nvSpPr>
        <p:spPr>
          <a:xfrm>
            <a:off x="357188" y="1380530"/>
            <a:ext cx="4014788" cy="3373636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638598"/>
            <a:ext cx="4000500" cy="285750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4736306" y="1200150"/>
            <a:ext cx="4121944" cy="169128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3" name="Text 49"/>
          <p:cNvSpPr/>
          <p:nvPr/>
        </p:nvSpPr>
        <p:spPr>
          <a:xfrm>
            <a:off x="4850606" y="1300163"/>
            <a:ext cx="38933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BREAKDOWN DE TEMPO</a:t>
            </a:r>
            <a:endParaRPr lang="en-US" sz="516" dirty="0"/>
          </a:p>
        </p:txBody>
      </p:sp>
      <p:sp>
        <p:nvSpPr>
          <p:cNvPr id="54" name="Text 50"/>
          <p:cNvSpPr/>
          <p:nvPr/>
        </p:nvSpPr>
        <p:spPr>
          <a:xfrm>
            <a:off x="4850606" y="1534120"/>
            <a:ext cx="101084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Zod (frontend)</a:t>
            </a:r>
            <a:endParaRPr lang="en-US" sz="621" dirty="0"/>
          </a:p>
        </p:txBody>
      </p:sp>
      <p:sp>
        <p:nvSpPr>
          <p:cNvPr id="55" name="Text 51"/>
          <p:cNvSpPr/>
          <p:nvPr/>
        </p:nvSpPr>
        <p:spPr>
          <a:xfrm>
            <a:off x="8484989" y="1530548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1ms</a:t>
            </a:r>
            <a:endParaRPr lang="en-US" sz="584" dirty="0"/>
          </a:p>
        </p:txBody>
      </p:sp>
      <p:sp>
        <p:nvSpPr>
          <p:cNvPr id="56" name="Text 52"/>
          <p:cNvSpPr/>
          <p:nvPr/>
        </p:nvSpPr>
        <p:spPr>
          <a:xfrm>
            <a:off x="4850606" y="1753791"/>
            <a:ext cx="113407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 → Node.js (rede local)</a:t>
            </a:r>
            <a:endParaRPr lang="en-US" sz="621" dirty="0"/>
          </a:p>
        </p:txBody>
      </p:sp>
      <p:sp>
        <p:nvSpPr>
          <p:cNvPr id="57" name="Text 53"/>
          <p:cNvSpPr/>
          <p:nvPr/>
        </p:nvSpPr>
        <p:spPr>
          <a:xfrm>
            <a:off x="8536781" y="1750219"/>
            <a:ext cx="2071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~5ms</a:t>
            </a:r>
            <a:endParaRPr lang="en-US" sz="584" dirty="0"/>
          </a:p>
        </p:txBody>
      </p:sp>
      <p:sp>
        <p:nvSpPr>
          <p:cNvPr id="58" name="Text 54"/>
          <p:cNvSpPr/>
          <p:nvPr/>
        </p:nvSpPr>
        <p:spPr>
          <a:xfrm>
            <a:off x="4850606" y="1973461"/>
            <a:ext cx="12180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→ Flask :5001 (HTTP)</a:t>
            </a:r>
            <a:endParaRPr lang="en-US" sz="621" dirty="0"/>
          </a:p>
        </p:txBody>
      </p:sp>
      <p:sp>
        <p:nvSpPr>
          <p:cNvPr id="59" name="Text 55"/>
          <p:cNvSpPr/>
          <p:nvPr/>
        </p:nvSpPr>
        <p:spPr>
          <a:xfrm>
            <a:off x="8484989" y="1969889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~10ms</a:t>
            </a:r>
            <a:endParaRPr lang="en-US" sz="584" dirty="0"/>
          </a:p>
        </p:txBody>
      </p:sp>
      <p:sp>
        <p:nvSpPr>
          <p:cNvPr id="60" name="Text 56"/>
          <p:cNvSpPr/>
          <p:nvPr/>
        </p:nvSpPr>
        <p:spPr>
          <a:xfrm>
            <a:off x="4850606" y="2193131"/>
            <a:ext cx="137517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+ Naive Bayes (inferência)</a:t>
            </a:r>
            <a:endParaRPr lang="en-US" sz="621" dirty="0"/>
          </a:p>
        </p:txBody>
      </p:sp>
      <p:sp>
        <p:nvSpPr>
          <p:cNvPr id="61" name="Text 57"/>
          <p:cNvSpPr/>
          <p:nvPr/>
        </p:nvSpPr>
        <p:spPr>
          <a:xfrm>
            <a:off x="8484989" y="2189559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~30ms</a:t>
            </a:r>
            <a:endParaRPr lang="en-US" sz="584" dirty="0"/>
          </a:p>
        </p:txBody>
      </p:sp>
      <p:sp>
        <p:nvSpPr>
          <p:cNvPr id="62" name="Text 58"/>
          <p:cNvSpPr/>
          <p:nvPr/>
        </p:nvSpPr>
        <p:spPr>
          <a:xfrm>
            <a:off x="4850606" y="2412802"/>
            <a:ext cx="9608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Escrita no banco (TiDB)</a:t>
            </a:r>
            <a:endParaRPr lang="en-US" sz="621" dirty="0"/>
          </a:p>
        </p:txBody>
      </p:sp>
      <p:sp>
        <p:nvSpPr>
          <p:cNvPr id="63" name="Text 59"/>
          <p:cNvSpPr/>
          <p:nvPr/>
        </p:nvSpPr>
        <p:spPr>
          <a:xfrm>
            <a:off x="8484989" y="2409230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~20ms</a:t>
            </a:r>
            <a:endParaRPr lang="en-US" sz="584" dirty="0"/>
          </a:p>
        </p:txBody>
      </p:sp>
      <p:sp>
        <p:nvSpPr>
          <p:cNvPr id="64" name="Text 60"/>
          <p:cNvSpPr/>
          <p:nvPr/>
        </p:nvSpPr>
        <p:spPr>
          <a:xfrm>
            <a:off x="4850606" y="2632472"/>
            <a:ext cx="118586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Retorno ao frontend + render</a:t>
            </a:r>
            <a:endParaRPr lang="en-US" sz="621" dirty="0"/>
          </a:p>
        </p:txBody>
      </p:sp>
      <p:sp>
        <p:nvSpPr>
          <p:cNvPr id="65" name="Text 61"/>
          <p:cNvSpPr/>
          <p:nvPr/>
        </p:nvSpPr>
        <p:spPr>
          <a:xfrm>
            <a:off x="8484989" y="2628900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~15ms</a:t>
            </a:r>
            <a:endParaRPr lang="en-US" sz="584" dirty="0"/>
          </a:p>
        </p:txBody>
      </p:sp>
      <p:sp>
        <p:nvSpPr>
          <p:cNvPr id="66" name="Shape 62"/>
          <p:cNvSpPr/>
          <p:nvPr/>
        </p:nvSpPr>
        <p:spPr>
          <a:xfrm>
            <a:off x="4736306" y="2991445"/>
            <a:ext cx="4121944" cy="1208968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850606" y="3091458"/>
            <a:ext cx="38933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DESTAQUES DO FLUXO</a:t>
            </a:r>
            <a:endParaRPr lang="en-US" sz="516" dirty="0"/>
          </a:p>
        </p:txBody>
      </p:sp>
      <p:sp>
        <p:nvSpPr>
          <p:cNvPr id="68" name="Text 64"/>
          <p:cNvSpPr/>
          <p:nvPr/>
        </p:nvSpPr>
        <p:spPr>
          <a:xfrm>
            <a:off x="4943475" y="3293269"/>
            <a:ext cx="38004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automático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 Flask offline, backend retorna categoria "Outros" sem quebrar o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</a:t>
            </a:r>
            <a:endParaRPr lang="en-US" sz="584" dirty="0"/>
          </a:p>
        </p:txBody>
      </p:sp>
      <p:sp>
        <p:nvSpPr>
          <p:cNvPr id="69" name="Text 65"/>
          <p:cNvSpPr/>
          <p:nvPr/>
        </p:nvSpPr>
        <p:spPr>
          <a:xfrm>
            <a:off x="4943475" y="3611835"/>
            <a:ext cx="38004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confiança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salvo no banco — analista pode revisar classificações com baixa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</a:t>
            </a:r>
            <a:endParaRPr lang="en-US" sz="584" dirty="0"/>
          </a:p>
        </p:txBody>
      </p:sp>
      <p:sp>
        <p:nvSpPr>
          <p:cNvPr id="70" name="Text 66"/>
          <p:cNvSpPr/>
          <p:nvPr/>
        </p:nvSpPr>
        <p:spPr>
          <a:xfrm>
            <a:off x="4943475" y="3930402"/>
            <a:ext cx="349865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automático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toda reclassificação manual gera entrada em incident_history</a:t>
            </a:r>
            <a:endParaRPr lang="en-US" sz="584" dirty="0"/>
          </a:p>
        </p:txBody>
      </p:sp>
      <p:sp>
        <p:nvSpPr>
          <p:cNvPr id="71" name="Shape 67"/>
          <p:cNvSpPr/>
          <p:nvPr/>
        </p:nvSpPr>
        <p:spPr>
          <a:xfrm>
            <a:off x="4736306" y="4304109"/>
            <a:ext cx="4121944" cy="45005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2" name="Shape 68"/>
          <p:cNvSpPr/>
          <p:nvPr/>
        </p:nvSpPr>
        <p:spPr>
          <a:xfrm>
            <a:off x="4736306" y="4304109"/>
            <a:ext cx="4121944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3" name="Text 69"/>
          <p:cNvSpPr/>
          <p:nvPr/>
        </p:nvSpPr>
        <p:spPr>
          <a:xfrm>
            <a:off x="4850606" y="4488954"/>
            <a:ext cx="12573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TEMPO TOTAL END-TO-END</a:t>
            </a:r>
            <a:endParaRPr lang="en-US" sz="516" dirty="0"/>
          </a:p>
        </p:txBody>
      </p:sp>
      <p:sp>
        <p:nvSpPr>
          <p:cNvPr id="74" name="Text 70"/>
          <p:cNvSpPr/>
          <p:nvPr/>
        </p:nvSpPr>
        <p:spPr>
          <a:xfrm>
            <a:off x="7906345" y="4404122"/>
            <a:ext cx="83760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200ms</a:t>
            </a:r>
            <a:endParaRPr lang="en-US" sz="1397" dirty="0"/>
          </a:p>
        </p:txBody>
      </p:sp>
      <p:sp>
        <p:nvSpPr>
          <p:cNvPr id="75" name="Shape 71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6" name="Shape 72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7" name="Text 73"/>
          <p:cNvSpPr/>
          <p:nvPr/>
        </p:nvSpPr>
        <p:spPr>
          <a:xfrm>
            <a:off x="214313" y="4962227"/>
            <a:ext cx="185023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Fluxo de Classificação</a:t>
            </a:r>
            <a:endParaRPr lang="en-US" sz="516" dirty="0"/>
          </a:p>
        </p:txBody>
      </p:sp>
      <p:sp>
        <p:nvSpPr>
          <p:cNvPr id="78" name="Text 74"/>
          <p:cNvSpPr/>
          <p:nvPr/>
        </p:nvSpPr>
        <p:spPr>
          <a:xfrm>
            <a:off x="7299127" y="4961334"/>
            <a:ext cx="141624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ML Engineer</a:t>
            </a:r>
            <a:endParaRPr lang="en-US" sz="5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9734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Funcionalidades: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532209"/>
            <a:ext cx="42362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MÓDULOS DO PERFIL USUÁRIO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357188" y="755452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57225" y="741164"/>
            <a:ext cx="39362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e Perfil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28663" y="891183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com checklist de senha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8+ chars, maiúscula, número, especial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728663" y="1025463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seguro com JWT HttpOnly · logout com invalidação de sessão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728663" y="1159743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de perfil com avatar, estatísticas e distribuição de risco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357188" y="1386892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57225" y="1372605"/>
            <a:ext cx="39362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 Classificação de Incidentes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28663" y="1522623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 validado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Zod — título, descrição, categoria, risco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728663" y="165690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 via ML (&lt;200ms) com score de confiança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728663" y="179118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colorido por severidade (crítico, alto, médio, baixo)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357188" y="2018333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57225" y="2004045"/>
            <a:ext cx="39362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Listagem com Filtros Avançados e Busca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728663" y="215406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por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categoria, risco, status, data inicial e data final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728663" y="228834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de texto completo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destaque visual (&lt;mark&gt;) em título e descrição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728663" y="242262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Contador de filtros ativos · botão de limpeza rápida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57188" y="2649773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657225" y="2635486"/>
            <a:ext cx="39362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e Exportação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728663" y="2785504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Aberto → Em Andamento → Resolvido · com comentário opcional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728663" y="2919785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completo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alterações com timeline cronológica reversa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728663" y="3054065"/>
            <a:ext cx="38647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(BOM UTF-8) 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filtros aplicados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5086350" y="532209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CHECKLIST DE FUNCIONALIDADES</a:t>
            </a:r>
            <a:endParaRPr lang="en-US" sz="516" dirty="0"/>
          </a:p>
        </p:txBody>
      </p:sp>
      <p:sp>
        <p:nvSpPr>
          <p:cNvPr id="30" name="Text 27"/>
          <p:cNvSpPr/>
          <p:nvPr/>
        </p:nvSpPr>
        <p:spPr>
          <a:xfrm>
            <a:off x="5086350" y="698302"/>
            <a:ext cx="2728773" cy="144661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</a:t>
            </a:r>
            <a:endParaRPr lang="en-US" sz="485" dirty="0"/>
          </a:p>
        </p:txBody>
      </p:sp>
      <p:sp>
        <p:nvSpPr>
          <p:cNvPr id="31" name="Text 28"/>
          <p:cNvSpPr/>
          <p:nvPr/>
        </p:nvSpPr>
        <p:spPr>
          <a:xfrm>
            <a:off x="7815123" y="698302"/>
            <a:ext cx="1043127" cy="144661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485" dirty="0"/>
          </a:p>
        </p:txBody>
      </p:sp>
      <p:sp>
        <p:nvSpPr>
          <p:cNvPr id="32" name="Text 29"/>
          <p:cNvSpPr/>
          <p:nvPr/>
        </p:nvSpPr>
        <p:spPr>
          <a:xfrm>
            <a:off x="5086350" y="842963"/>
            <a:ext cx="2728773" cy="248245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com checklist de senha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7815123" y="892969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123" y="892969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35" name="Text 32"/>
          <p:cNvSpPr/>
          <p:nvPr/>
        </p:nvSpPr>
        <p:spPr>
          <a:xfrm>
            <a:off x="5086350" y="1076920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/ Logout seguro (JWT)</a:t>
            </a:r>
            <a:endParaRPr lang="en-US" sz="634" dirty="0"/>
          </a:p>
        </p:txBody>
      </p:sp>
      <p:sp>
        <p:nvSpPr>
          <p:cNvPr id="36" name="Shape 33"/>
          <p:cNvSpPr/>
          <p:nvPr/>
        </p:nvSpPr>
        <p:spPr>
          <a:xfrm>
            <a:off x="7815123" y="1123355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15123" y="1123355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38" name="Text 35"/>
          <p:cNvSpPr/>
          <p:nvPr/>
        </p:nvSpPr>
        <p:spPr>
          <a:xfrm>
            <a:off x="5086350" y="1307306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de perfil com estatísticas</a:t>
            </a:r>
            <a:endParaRPr lang="en-US" sz="634" dirty="0"/>
          </a:p>
        </p:txBody>
      </p:sp>
      <p:sp>
        <p:nvSpPr>
          <p:cNvPr id="39" name="Shape 36"/>
          <p:cNvSpPr/>
          <p:nvPr/>
        </p:nvSpPr>
        <p:spPr>
          <a:xfrm>
            <a:off x="7815123" y="1353741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5123" y="1353741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41" name="Text 38"/>
          <p:cNvSpPr/>
          <p:nvPr/>
        </p:nvSpPr>
        <p:spPr>
          <a:xfrm>
            <a:off x="5086350" y="1537692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incidentes + ML</a:t>
            </a:r>
            <a:endParaRPr lang="en-US" sz="634" dirty="0"/>
          </a:p>
        </p:txBody>
      </p:sp>
      <p:sp>
        <p:nvSpPr>
          <p:cNvPr id="42" name="Shape 39"/>
          <p:cNvSpPr/>
          <p:nvPr/>
        </p:nvSpPr>
        <p:spPr>
          <a:xfrm>
            <a:off x="7815123" y="1584127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15123" y="1584127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44" name="Text 41"/>
          <p:cNvSpPr/>
          <p:nvPr/>
        </p:nvSpPr>
        <p:spPr>
          <a:xfrm>
            <a:off x="5086350" y="1768078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avançados (5 dimensões)</a:t>
            </a:r>
            <a:endParaRPr lang="en-US" sz="634" dirty="0"/>
          </a:p>
        </p:txBody>
      </p:sp>
      <p:sp>
        <p:nvSpPr>
          <p:cNvPr id="45" name="Shape 42"/>
          <p:cNvSpPr/>
          <p:nvPr/>
        </p:nvSpPr>
        <p:spPr>
          <a:xfrm>
            <a:off x="7815123" y="1814513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15123" y="1814513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47" name="Text 44"/>
          <p:cNvSpPr/>
          <p:nvPr/>
        </p:nvSpPr>
        <p:spPr>
          <a:xfrm>
            <a:off x="5086350" y="1998464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de texto completo</a:t>
            </a:r>
            <a:endParaRPr lang="en-US" sz="634" dirty="0"/>
          </a:p>
        </p:txBody>
      </p:sp>
      <p:sp>
        <p:nvSpPr>
          <p:cNvPr id="48" name="Shape 45"/>
          <p:cNvSpPr/>
          <p:nvPr/>
        </p:nvSpPr>
        <p:spPr>
          <a:xfrm>
            <a:off x="7815123" y="2044898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815123" y="2044898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50" name="Text 47"/>
          <p:cNvSpPr/>
          <p:nvPr/>
        </p:nvSpPr>
        <p:spPr>
          <a:xfrm>
            <a:off x="5086350" y="2228850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Detalhe do incidente</a:t>
            </a:r>
            <a:endParaRPr lang="en-US" sz="634" dirty="0"/>
          </a:p>
        </p:txBody>
      </p:sp>
      <p:sp>
        <p:nvSpPr>
          <p:cNvPr id="51" name="Shape 48"/>
          <p:cNvSpPr/>
          <p:nvPr/>
        </p:nvSpPr>
        <p:spPr>
          <a:xfrm>
            <a:off x="7815123" y="2275284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15123" y="2275284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53" name="Text 50"/>
          <p:cNvSpPr/>
          <p:nvPr/>
        </p:nvSpPr>
        <p:spPr>
          <a:xfrm>
            <a:off x="5086350" y="2459236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+ notas de acompanhamento</a:t>
            </a:r>
            <a:endParaRPr lang="en-US" sz="634" dirty="0"/>
          </a:p>
        </p:txBody>
      </p:sp>
      <p:sp>
        <p:nvSpPr>
          <p:cNvPr id="54" name="Shape 51"/>
          <p:cNvSpPr/>
          <p:nvPr/>
        </p:nvSpPr>
        <p:spPr>
          <a:xfrm>
            <a:off x="7815123" y="2505670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15123" y="2505670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56" name="Text 53"/>
          <p:cNvSpPr/>
          <p:nvPr/>
        </p:nvSpPr>
        <p:spPr>
          <a:xfrm>
            <a:off x="5086350" y="2689622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alterações (timeline)</a:t>
            </a:r>
            <a:endParaRPr lang="en-US" sz="634" dirty="0"/>
          </a:p>
        </p:txBody>
      </p:sp>
      <p:sp>
        <p:nvSpPr>
          <p:cNvPr id="57" name="Shape 54"/>
          <p:cNvSpPr/>
          <p:nvPr/>
        </p:nvSpPr>
        <p:spPr>
          <a:xfrm>
            <a:off x="7815123" y="2736056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15123" y="2736056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59" name="Text 56"/>
          <p:cNvSpPr/>
          <p:nvPr/>
        </p:nvSpPr>
        <p:spPr>
          <a:xfrm>
            <a:off x="5086350" y="2920008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CSV (BOM UTF-8)</a:t>
            </a:r>
            <a:endParaRPr lang="en-US" sz="634" dirty="0"/>
          </a:p>
        </p:txBody>
      </p:sp>
      <p:sp>
        <p:nvSpPr>
          <p:cNvPr id="60" name="Shape 57"/>
          <p:cNvSpPr/>
          <p:nvPr/>
        </p:nvSpPr>
        <p:spPr>
          <a:xfrm>
            <a:off x="7815123" y="2966442"/>
            <a:ext cx="446484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815123" y="2966442"/>
            <a:ext cx="446484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NOVO</a:t>
            </a:r>
            <a:endParaRPr lang="en-US" sz="485" dirty="0"/>
          </a:p>
        </p:txBody>
      </p:sp>
      <p:sp>
        <p:nvSpPr>
          <p:cNvPr id="62" name="Text 59"/>
          <p:cNvSpPr/>
          <p:nvPr/>
        </p:nvSpPr>
        <p:spPr>
          <a:xfrm>
            <a:off x="5086350" y="3150394"/>
            <a:ext cx="2728773" cy="244673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PDF com filtros</a:t>
            </a:r>
            <a:endParaRPr lang="en-US" sz="634" dirty="0"/>
          </a:p>
        </p:txBody>
      </p:sp>
      <p:sp>
        <p:nvSpPr>
          <p:cNvPr id="63" name="Shape 60"/>
          <p:cNvSpPr/>
          <p:nvPr/>
        </p:nvSpPr>
        <p:spPr>
          <a:xfrm>
            <a:off x="7815123" y="3196828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15123" y="3196828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65" name="Text 62"/>
          <p:cNvSpPr/>
          <p:nvPr/>
        </p:nvSpPr>
        <p:spPr>
          <a:xfrm>
            <a:off x="5086350" y="3380780"/>
            <a:ext cx="2728773" cy="241102"/>
          </a:xfrm>
          <a:prstGeom prst="rect">
            <a:avLst/>
          </a:prstGeom>
          <a:noFill/>
          <a:ln/>
        </p:spPr>
        <p:txBody>
          <a:bodyPr wrap="square" lIns="0" tIns="51054" rIns="8509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com KPIs e gráficos</a:t>
            </a:r>
            <a:endParaRPr lang="en-US" sz="634" dirty="0"/>
          </a:p>
        </p:txBody>
      </p:sp>
      <p:sp>
        <p:nvSpPr>
          <p:cNvPr id="66" name="Shape 63"/>
          <p:cNvSpPr/>
          <p:nvPr/>
        </p:nvSpPr>
        <p:spPr>
          <a:xfrm>
            <a:off x="7815123" y="3427214"/>
            <a:ext cx="646509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815123" y="3427214"/>
            <a:ext cx="646509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ENTREGUE</a:t>
            </a:r>
            <a:endParaRPr lang="en-US" sz="485" dirty="0"/>
          </a:p>
        </p:txBody>
      </p:sp>
      <p:sp>
        <p:nvSpPr>
          <p:cNvPr id="68" name="Shape 65"/>
          <p:cNvSpPr/>
          <p:nvPr/>
        </p:nvSpPr>
        <p:spPr>
          <a:xfrm>
            <a:off x="5086350" y="4345186"/>
            <a:ext cx="3771900" cy="523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9" name="Shape 66"/>
          <p:cNvSpPr/>
          <p:nvPr/>
        </p:nvSpPr>
        <p:spPr>
          <a:xfrm>
            <a:off x="5086350" y="4345186"/>
            <a:ext cx="3771900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0" name="Text 67"/>
          <p:cNvSpPr/>
          <p:nvPr/>
        </p:nvSpPr>
        <p:spPr>
          <a:xfrm>
            <a:off x="5172075" y="4416623"/>
            <a:ext cx="36004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RESUMO</a:t>
            </a:r>
            <a:endParaRPr lang="en-US" sz="516" dirty="0"/>
          </a:p>
        </p:txBody>
      </p:sp>
      <p:sp>
        <p:nvSpPr>
          <p:cNvPr id="71" name="Text 68"/>
          <p:cNvSpPr/>
          <p:nvPr/>
        </p:nvSpPr>
        <p:spPr>
          <a:xfrm>
            <a:off x="5172075" y="4554141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funcionalidades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entregues ·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novas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nesta versão · cobertura de testes em todas as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584" dirty="0"/>
          </a:p>
        </p:txBody>
      </p:sp>
      <p:sp>
        <p:nvSpPr>
          <p:cNvPr id="72" name="Shape 69"/>
          <p:cNvSpPr/>
          <p:nvPr/>
        </p:nvSpPr>
        <p:spPr>
          <a:xfrm>
            <a:off x="0" y="4925616"/>
            <a:ext cx="914400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0" y="492561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4" name="Text 71"/>
          <p:cNvSpPr/>
          <p:nvPr/>
        </p:nvSpPr>
        <p:spPr>
          <a:xfrm>
            <a:off x="214313" y="4990802"/>
            <a:ext cx="190023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Funcionalidades Usuário</a:t>
            </a:r>
            <a:endParaRPr lang="en-US" sz="516" dirty="0"/>
          </a:p>
        </p:txBody>
      </p:sp>
      <p:sp>
        <p:nvSpPr>
          <p:cNvPr id="75" name="Text 72"/>
          <p:cNvSpPr/>
          <p:nvPr/>
        </p:nvSpPr>
        <p:spPr>
          <a:xfrm>
            <a:off x="6806208" y="4989909"/>
            <a:ext cx="190916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Frontend + Integração ML</a:t>
            </a:r>
            <a:endParaRPr lang="en-US" sz="5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24895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Funcionalidades: </a:t>
            </a:r>
            <a:r>
              <a:rPr lang="en-US" sz="1090" b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Administrador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339328"/>
          </a:xfrm>
          <a:prstGeom prst="rect">
            <a:avLst/>
          </a:prstGeom>
          <a:solidFill>
            <a:srgbClr val="FF8A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778669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517922"/>
            <a:ext cx="914400" cy="17502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 ADMIN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1414463" y="549176"/>
            <a:ext cx="63186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</a:t>
            </a: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irrestrito</a:t>
            </a: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todos os incidentes, usuários, categorias, relatórios e painel de Machine Learning — protegido por </a:t>
            </a: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adminProcedure + RBAC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357188" y="907256"/>
            <a:ext cx="42362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FUNCIONALIDADES EXCLUSIVAS DO ADMIN</a:t>
            </a:r>
            <a:endParaRPr lang="en-US" sz="516" dirty="0"/>
          </a:p>
        </p:txBody>
      </p:sp>
      <p:sp>
        <p:nvSpPr>
          <p:cNvPr id="14" name="Shape 11"/>
          <p:cNvSpPr/>
          <p:nvPr/>
        </p:nvSpPr>
        <p:spPr>
          <a:xfrm>
            <a:off x="357188" y="1101923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01936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28663" y="1187648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Global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728663" y="1321594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de todos os usuários: total de incidentes, críticos, categorias ativas, usuários cadastrados</a:t>
            </a:r>
            <a:endParaRPr lang="en-US" sz="568" dirty="0"/>
          </a:p>
        </p:txBody>
      </p:sp>
      <p:sp>
        <p:nvSpPr>
          <p:cNvPr id="18" name="Shape 15"/>
          <p:cNvSpPr/>
          <p:nvPr/>
        </p:nvSpPr>
        <p:spPr>
          <a:xfrm>
            <a:off x="2511028" y="1101923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6"/>
          <p:cNvSpPr/>
          <p:nvPr/>
        </p:nvSpPr>
        <p:spPr>
          <a:xfrm>
            <a:off x="2611041" y="1201936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882503" y="1187648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Incidentes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882503" y="1321594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e busca em todos os incidentes do sistema, independente do usuário criador</a:t>
            </a:r>
            <a:endParaRPr lang="en-US" sz="568" dirty="0"/>
          </a:p>
        </p:txBody>
      </p:sp>
      <p:sp>
        <p:nvSpPr>
          <p:cNvPr id="22" name="Shape 19"/>
          <p:cNvSpPr/>
          <p:nvPr/>
        </p:nvSpPr>
        <p:spPr>
          <a:xfrm>
            <a:off x="357188" y="1808764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1908777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728663" y="1894489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Gerenciar Usuários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728663" y="2028434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Editar nome/e-mail, resetar senha (Security2026@), excluir conta, promover/rebaixar perfil</a:t>
            </a:r>
            <a:endParaRPr lang="en-US" sz="568" dirty="0"/>
          </a:p>
        </p:txBody>
      </p:sp>
      <p:sp>
        <p:nvSpPr>
          <p:cNvPr id="26" name="Shape 23"/>
          <p:cNvSpPr/>
          <p:nvPr/>
        </p:nvSpPr>
        <p:spPr>
          <a:xfrm>
            <a:off x="2511028" y="1808764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4"/>
          <p:cNvSpPr/>
          <p:nvPr/>
        </p:nvSpPr>
        <p:spPr>
          <a:xfrm>
            <a:off x="2611041" y="1908777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2882503" y="1894489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de Categorias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2882503" y="2028434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Criar, editar e excluir fisicamente categorias — exclusão permanente com confirmação explícita</a:t>
            </a:r>
            <a:endParaRPr lang="en-US" sz="568" dirty="0"/>
          </a:p>
        </p:txBody>
      </p:sp>
      <p:sp>
        <p:nvSpPr>
          <p:cNvPr id="30" name="Shape 27"/>
          <p:cNvSpPr/>
          <p:nvPr/>
        </p:nvSpPr>
        <p:spPr>
          <a:xfrm>
            <a:off x="357188" y="2515605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2615617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728663" y="2601330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PDF Consolidado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728663" y="2735275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 todos os incidentes do sistema com quebra de linha automática e cabeçalho admin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2511028" y="2515605"/>
            <a:ext cx="2082403" cy="63540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2"/>
          <p:cNvSpPr/>
          <p:nvPr/>
        </p:nvSpPr>
        <p:spPr>
          <a:xfrm>
            <a:off x="2611041" y="2615617"/>
            <a:ext cx="20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85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2882503" y="2601330"/>
            <a:ext cx="16109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Machine Learning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2882503" y="2735275"/>
            <a:ext cx="16109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do modelo, retreinamento dinâmico, dataset com visualização online e download XLSX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5086350" y="907256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DESTAQUES TÉCNICOS</a:t>
            </a:r>
            <a:endParaRPr lang="en-US" sz="516" dirty="0"/>
          </a:p>
        </p:txBody>
      </p:sp>
      <p:sp>
        <p:nvSpPr>
          <p:cNvPr id="39" name="Shape 36"/>
          <p:cNvSpPr/>
          <p:nvPr/>
        </p:nvSpPr>
        <p:spPr>
          <a:xfrm>
            <a:off x="5086350" y="1187648"/>
            <a:ext cx="3771900" cy="8511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7"/>
          <p:cNvSpPr/>
          <p:nvPr/>
        </p:nvSpPr>
        <p:spPr>
          <a:xfrm>
            <a:off x="5086350" y="1187648"/>
            <a:ext cx="3771900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41" name="Text 38"/>
          <p:cNvSpPr/>
          <p:nvPr/>
        </p:nvSpPr>
        <p:spPr>
          <a:xfrm>
            <a:off x="5186363" y="1259086"/>
            <a:ext cx="35718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GERENCIAMENTO DE USUÁRIOS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279231" y="1528763"/>
            <a:ext cx="64115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 de senha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5920383" y="1528763"/>
            <a:ext cx="23038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6150769" y="1532334"/>
            <a:ext cx="6036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Security2026@</a:t>
            </a:r>
            <a:endParaRPr lang="en-US" sz="568" dirty="0"/>
          </a:p>
        </p:txBody>
      </p:sp>
      <p:sp>
        <p:nvSpPr>
          <p:cNvPr id="45" name="Text 42"/>
          <p:cNvSpPr/>
          <p:nvPr/>
        </p:nvSpPr>
        <p:spPr>
          <a:xfrm>
            <a:off x="6754416" y="1528763"/>
            <a:ext cx="75902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bcrypt custo 12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5279231" y="1677330"/>
            <a:ext cx="246816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self-edit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admin não pode excluir a própria conta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5279231" y="1833042"/>
            <a:ext cx="22199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Promoção de perfil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user ↔ admin com confirmação</a:t>
            </a:r>
            <a:endParaRPr lang="en-US" sz="584" dirty="0"/>
          </a:p>
        </p:txBody>
      </p:sp>
      <p:sp>
        <p:nvSpPr>
          <p:cNvPr id="48" name="Shape 45"/>
          <p:cNvSpPr/>
          <p:nvPr/>
        </p:nvSpPr>
        <p:spPr>
          <a:xfrm>
            <a:off x="5086350" y="2110197"/>
            <a:ext cx="3771900" cy="8511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6"/>
          <p:cNvSpPr/>
          <p:nvPr/>
        </p:nvSpPr>
        <p:spPr>
          <a:xfrm>
            <a:off x="5086350" y="2110197"/>
            <a:ext cx="3771900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0" name="Text 47"/>
          <p:cNvSpPr/>
          <p:nvPr/>
        </p:nvSpPr>
        <p:spPr>
          <a:xfrm>
            <a:off x="5186363" y="2181634"/>
            <a:ext cx="35718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RELATÓRIO PDF CONSOLIDADO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5279231" y="2444167"/>
            <a:ext cx="233243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PDFKit nativo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funciona sem Python/Flask no container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5279231" y="2599879"/>
            <a:ext cx="23288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Quebra de linha automática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altura dinâmica por célula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5279231" y="2755590"/>
            <a:ext cx="238958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adminMode=true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busca todos os incidentes do sistema</a:t>
            </a:r>
            <a:endParaRPr lang="en-US" sz="584" dirty="0"/>
          </a:p>
        </p:txBody>
      </p:sp>
      <p:sp>
        <p:nvSpPr>
          <p:cNvPr id="54" name="Shape 51"/>
          <p:cNvSpPr/>
          <p:nvPr/>
        </p:nvSpPr>
        <p:spPr>
          <a:xfrm>
            <a:off x="5086350" y="3032745"/>
            <a:ext cx="3771900" cy="8511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5" name="Shape 52"/>
          <p:cNvSpPr/>
          <p:nvPr/>
        </p:nvSpPr>
        <p:spPr>
          <a:xfrm>
            <a:off x="5086350" y="3032745"/>
            <a:ext cx="3771900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6" name="Text 53"/>
          <p:cNvSpPr/>
          <p:nvPr/>
        </p:nvSpPr>
        <p:spPr>
          <a:xfrm>
            <a:off x="5186363" y="3104183"/>
            <a:ext cx="35718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PAINEL MACHINE LEARNING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5279231" y="3366715"/>
            <a:ext cx="19859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última atualização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salva no metrics.json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5279231" y="3522427"/>
            <a:ext cx="24431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Retreinamento dinâmico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todos os incidentes do banco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5279231" y="3678138"/>
            <a:ext cx="237351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online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dataset via Microsoft Office Online</a:t>
            </a:r>
            <a:endParaRPr lang="en-US" sz="584" dirty="0"/>
          </a:p>
        </p:txBody>
      </p:sp>
      <p:sp>
        <p:nvSpPr>
          <p:cNvPr id="60" name="Shape 57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2" name="Text 59"/>
          <p:cNvSpPr/>
          <p:nvPr/>
        </p:nvSpPr>
        <p:spPr>
          <a:xfrm>
            <a:off x="214313" y="4962227"/>
            <a:ext cx="18002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Funcionalidades Admin</a:t>
            </a:r>
            <a:endParaRPr lang="en-US" sz="516" dirty="0"/>
          </a:p>
        </p:txBody>
      </p:sp>
      <p:sp>
        <p:nvSpPr>
          <p:cNvPr id="63" name="Text 60"/>
          <p:cNvSpPr/>
          <p:nvPr/>
        </p:nvSpPr>
        <p:spPr>
          <a:xfrm>
            <a:off x="7220545" y="4961334"/>
            <a:ext cx="149483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</a:t>
            </a:r>
            <a:endParaRPr lang="en-US" sz="5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27592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Retreinamento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Dinâmico do Modelo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17934"/>
            <a:ext cx="42362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FLUXO DE RETREINAMENTO — 5 ETAPAS</a:t>
            </a:r>
            <a:endParaRPr lang="en-US" sz="516" dirty="0"/>
          </a:p>
        </p:txBody>
      </p:sp>
      <p:sp>
        <p:nvSpPr>
          <p:cNvPr id="9" name="Shape 6"/>
          <p:cNvSpPr/>
          <p:nvPr/>
        </p:nvSpPr>
        <p:spPr>
          <a:xfrm>
            <a:off x="357188" y="841177"/>
            <a:ext cx="1297763" cy="27797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357188" y="841177"/>
            <a:ext cx="1297763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941189"/>
            <a:ext cx="109773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ETAPA 01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457200" y="1092994"/>
            <a:ext cx="10977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Inicia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57200" y="1271588"/>
            <a:ext cx="1097738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Painel ML → botão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"Retreinar Modelo"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Opção: incluir todos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incidentes do banco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1654950" y="841177"/>
            <a:ext cx="171450" cy="277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1826400" y="841177"/>
            <a:ext cx="1297791" cy="27797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3"/>
          <p:cNvSpPr/>
          <p:nvPr/>
        </p:nvSpPr>
        <p:spPr>
          <a:xfrm>
            <a:off x="1826400" y="841177"/>
            <a:ext cx="1297791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17" name="Text 14"/>
          <p:cNvSpPr/>
          <p:nvPr/>
        </p:nvSpPr>
        <p:spPr>
          <a:xfrm>
            <a:off x="1926413" y="941189"/>
            <a:ext cx="109776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ETAPA 02</a:t>
            </a:r>
            <a:endParaRPr lang="en-US" sz="516" dirty="0"/>
          </a:p>
        </p:txBody>
      </p:sp>
      <p:sp>
        <p:nvSpPr>
          <p:cNvPr id="18" name="Text 15"/>
          <p:cNvSpPr/>
          <p:nvPr/>
        </p:nvSpPr>
        <p:spPr>
          <a:xfrm>
            <a:off x="1926413" y="1092994"/>
            <a:ext cx="10977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Busca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1926413" y="1271588"/>
            <a:ext cx="1097766" cy="628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 procedure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retrainModel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 todos os 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incidentes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 categoria definida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3124191" y="841177"/>
            <a:ext cx="171450" cy="277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3295641" y="841177"/>
            <a:ext cx="1297791" cy="27797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9"/>
          <p:cNvSpPr/>
          <p:nvPr/>
        </p:nvSpPr>
        <p:spPr>
          <a:xfrm>
            <a:off x="3295641" y="841177"/>
            <a:ext cx="1297791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0"/>
          <p:cNvSpPr/>
          <p:nvPr/>
        </p:nvSpPr>
        <p:spPr>
          <a:xfrm>
            <a:off x="3395653" y="941189"/>
            <a:ext cx="109776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ETAPA 03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3395653" y="1092994"/>
            <a:ext cx="10977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Combina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3395653" y="1271588"/>
            <a:ext cx="1097766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/retrain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 original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incidentes reais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novas categorias</a:t>
            </a:r>
            <a:endParaRPr lang="en-US" sz="568" dirty="0"/>
          </a:p>
        </p:txBody>
      </p:sp>
      <p:sp>
        <p:nvSpPr>
          <p:cNvPr id="26" name="Shape 23"/>
          <p:cNvSpPr/>
          <p:nvPr/>
        </p:nvSpPr>
        <p:spPr>
          <a:xfrm>
            <a:off x="357188" y="3706602"/>
            <a:ext cx="2032397" cy="10475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4"/>
          <p:cNvSpPr/>
          <p:nvPr/>
        </p:nvSpPr>
        <p:spPr>
          <a:xfrm>
            <a:off x="357188" y="3706602"/>
            <a:ext cx="2032397" cy="14288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806614"/>
            <a:ext cx="1832372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ETAPA 04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457200" y="3958419"/>
            <a:ext cx="18323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 o Modelo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57200" y="4137013"/>
            <a:ext cx="1832372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TF-IDF Vectorizer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Multinomial Naive Bayes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Cross-validation 5-fold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 nova acurácia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2389584" y="3706602"/>
            <a:ext cx="171450" cy="10475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42" dirty="0"/>
          </a:p>
        </p:txBody>
      </p:sp>
      <p:sp>
        <p:nvSpPr>
          <p:cNvPr id="32" name="Shape 29"/>
          <p:cNvSpPr/>
          <p:nvPr/>
        </p:nvSpPr>
        <p:spPr>
          <a:xfrm>
            <a:off x="2561034" y="3706602"/>
            <a:ext cx="2032397" cy="10475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0"/>
          <p:cNvSpPr/>
          <p:nvPr/>
        </p:nvSpPr>
        <p:spPr>
          <a:xfrm>
            <a:off x="2561034" y="3706602"/>
            <a:ext cx="2032397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4" name="Text 31"/>
          <p:cNvSpPr/>
          <p:nvPr/>
        </p:nvSpPr>
        <p:spPr>
          <a:xfrm>
            <a:off x="2661047" y="3820902"/>
            <a:ext cx="1832372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ETAPA 05</a:t>
            </a:r>
            <a:endParaRPr lang="en-US" sz="516" dirty="0"/>
          </a:p>
        </p:txBody>
      </p:sp>
      <p:sp>
        <p:nvSpPr>
          <p:cNvPr id="35" name="Text 32"/>
          <p:cNvSpPr/>
          <p:nvPr/>
        </p:nvSpPr>
        <p:spPr>
          <a:xfrm>
            <a:off x="2661047" y="3972706"/>
            <a:ext cx="18323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 e Atualiza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2661047" y="4151300"/>
            <a:ext cx="1832372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 modelo .pkl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Atualiza metrics.json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last_updated = agora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Exibe nova acurácia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5114925" y="617934"/>
            <a:ext cx="3743325" cy="127326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5"/>
          <p:cNvSpPr/>
          <p:nvPr/>
        </p:nvSpPr>
        <p:spPr>
          <a:xfrm>
            <a:off x="5229225" y="717947"/>
            <a:ext cx="35147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MUDA NO RETREINAMENTO</a:t>
            </a:r>
            <a:endParaRPr lang="en-US" sz="516" dirty="0"/>
          </a:p>
        </p:txBody>
      </p:sp>
      <p:sp>
        <p:nvSpPr>
          <p:cNvPr id="39" name="Text 36"/>
          <p:cNvSpPr/>
          <p:nvPr/>
        </p:nvSpPr>
        <p:spPr>
          <a:xfrm>
            <a:off x="5329238" y="919758"/>
            <a:ext cx="317003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categorias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adicionadas pelo admin são incorporadas automaticamente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5329238" y="1118332"/>
            <a:ext cx="34147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 reais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banco aumentam a base de treinamento com dados de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produção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5329238" y="1436898"/>
            <a:ext cx="317718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recalculada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exibida imediatamente no painel após o retreinamento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329238" y="1635472"/>
            <a:ext cx="283428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atualização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registrada no metrics.json e exibida no painel ML</a:t>
            </a:r>
            <a:endParaRPr lang="en-US" sz="584" dirty="0"/>
          </a:p>
        </p:txBody>
      </p:sp>
      <p:sp>
        <p:nvSpPr>
          <p:cNvPr id="43" name="Shape 40"/>
          <p:cNvSpPr/>
          <p:nvPr/>
        </p:nvSpPr>
        <p:spPr>
          <a:xfrm>
            <a:off x="5114925" y="1991209"/>
            <a:ext cx="3743325" cy="115326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1"/>
          <p:cNvSpPr/>
          <p:nvPr/>
        </p:nvSpPr>
        <p:spPr>
          <a:xfrm>
            <a:off x="5229225" y="2091221"/>
            <a:ext cx="35147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DETALHES TÉCNICOS</a:t>
            </a:r>
            <a:endParaRPr lang="en-US" sz="516" dirty="0"/>
          </a:p>
        </p:txBody>
      </p:sp>
      <p:sp>
        <p:nvSpPr>
          <p:cNvPr id="45" name="Text 42"/>
          <p:cNvSpPr/>
          <p:nvPr/>
        </p:nvSpPr>
        <p:spPr>
          <a:xfrm>
            <a:off x="5329238" y="2293032"/>
            <a:ext cx="160377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Endpoint: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 /retrain em Flask :5001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5329238" y="2491606"/>
            <a:ext cx="184130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Payload: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JSON com array de {text, category}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5329238" y="2690180"/>
            <a:ext cx="164484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Modelo: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salvo em classifier.pkl via joblib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5329238" y="2888754"/>
            <a:ext cx="208418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Fallback: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Node.js PDFKit quando Flask indisponível</a:t>
            </a:r>
            <a:endParaRPr lang="en-US" sz="584" dirty="0"/>
          </a:p>
        </p:txBody>
      </p:sp>
      <p:sp>
        <p:nvSpPr>
          <p:cNvPr id="49" name="Shape 46"/>
          <p:cNvSpPr/>
          <p:nvPr/>
        </p:nvSpPr>
        <p:spPr>
          <a:xfrm>
            <a:off x="5114925" y="3244490"/>
            <a:ext cx="3743325" cy="95469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7"/>
          <p:cNvSpPr/>
          <p:nvPr/>
        </p:nvSpPr>
        <p:spPr>
          <a:xfrm>
            <a:off x="5229225" y="3344503"/>
            <a:ext cx="35147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BENEFÍCIOS</a:t>
            </a:r>
            <a:endParaRPr lang="en-US" sz="516" dirty="0"/>
          </a:p>
        </p:txBody>
      </p:sp>
      <p:sp>
        <p:nvSpPr>
          <p:cNvPr id="51" name="Text 48"/>
          <p:cNvSpPr/>
          <p:nvPr/>
        </p:nvSpPr>
        <p:spPr>
          <a:xfrm>
            <a:off x="5329238" y="3546314"/>
            <a:ext cx="251638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aprende com dados reais de produção continuamente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5329238" y="3744888"/>
            <a:ext cx="268426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necessidade de re-deploy — retreinamento via interface web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5329238" y="3943462"/>
            <a:ext cx="23967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Rastreabilidade: data e acurácia de cada versão do modelo</a:t>
            </a:r>
            <a:endParaRPr lang="en-US" sz="621" dirty="0"/>
          </a:p>
        </p:txBody>
      </p:sp>
      <p:sp>
        <p:nvSpPr>
          <p:cNvPr id="54" name="Shape 51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6" name="Text 53"/>
          <p:cNvSpPr/>
          <p:nvPr/>
        </p:nvSpPr>
        <p:spPr>
          <a:xfrm>
            <a:off x="214313" y="4962227"/>
            <a:ext cx="155019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Retreinamento ML</a:t>
            </a:r>
            <a:endParaRPr lang="en-US" sz="516" dirty="0"/>
          </a:p>
        </p:txBody>
      </p:sp>
      <p:sp>
        <p:nvSpPr>
          <p:cNvPr id="57" name="Text 54"/>
          <p:cNvSpPr/>
          <p:nvPr/>
        </p:nvSpPr>
        <p:spPr>
          <a:xfrm>
            <a:off x="7299127" y="4961334"/>
            <a:ext cx="141624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ML Engineer</a:t>
            </a:r>
            <a:endParaRPr lang="en-US" sz="5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7466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</a:t>
            </a: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Automatizados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60721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1046559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560784"/>
            <a:ext cx="66972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649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</a:t>
            </a:r>
            <a:endParaRPr lang="en-US" sz="2649" dirty="0"/>
          </a:p>
        </p:txBody>
      </p:sp>
      <p:sp>
        <p:nvSpPr>
          <p:cNvPr id="11" name="Text 8"/>
          <p:cNvSpPr/>
          <p:nvPr/>
        </p:nvSpPr>
        <p:spPr>
          <a:xfrm>
            <a:off x="1084064" y="623292"/>
            <a:ext cx="13001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Passando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1084064" y="766167"/>
            <a:ext cx="1300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 pass rate · zero falhas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3336131" y="560784"/>
            <a:ext cx="44648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649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2649" dirty="0"/>
          </a:p>
        </p:txBody>
      </p:sp>
      <p:sp>
        <p:nvSpPr>
          <p:cNvPr id="14" name="Text 11"/>
          <p:cNvSpPr/>
          <p:nvPr/>
        </p:nvSpPr>
        <p:spPr>
          <a:xfrm>
            <a:off x="3911203" y="623292"/>
            <a:ext cx="8822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de Teste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911203" y="766167"/>
            <a:ext cx="8822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Vitest · TypeScript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6386513" y="560784"/>
            <a:ext cx="22324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649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2649" dirty="0"/>
          </a:p>
        </p:txBody>
      </p:sp>
      <p:sp>
        <p:nvSpPr>
          <p:cNvPr id="17" name="Text 14"/>
          <p:cNvSpPr/>
          <p:nvPr/>
        </p:nvSpPr>
        <p:spPr>
          <a:xfrm>
            <a:off x="6738342" y="623292"/>
            <a:ext cx="14859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Sessões de Entrega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738342" y="766167"/>
            <a:ext cx="14859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Testes adicionados a cada sessão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357188" y="1189434"/>
            <a:ext cx="409336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ARQUIVOS DE TESTE · COBERTURA POR MÓDULO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357188" y="1369814"/>
            <a:ext cx="2520153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ARQUIVO</a:t>
            </a:r>
            <a:endParaRPr lang="en-US" sz="485" dirty="0"/>
          </a:p>
        </p:txBody>
      </p:sp>
      <p:sp>
        <p:nvSpPr>
          <p:cNvPr id="21" name="Text 18"/>
          <p:cNvSpPr/>
          <p:nvPr/>
        </p:nvSpPr>
        <p:spPr>
          <a:xfrm>
            <a:off x="2877341" y="1369814"/>
            <a:ext cx="644528" cy="158948"/>
          </a:xfrm>
          <a:prstGeom prst="rect">
            <a:avLst/>
          </a:prstGeom>
          <a:noFill/>
          <a:ln/>
        </p:spPr>
        <p:txBody>
          <a:bodyPr wrap="square" lIns="0" tIns="0" rIns="136017" bIns="68072" rtlCol="0" anchor="ctr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TESTES</a:t>
            </a:r>
            <a:endParaRPr lang="en-US" sz="485" dirty="0"/>
          </a:p>
        </p:txBody>
      </p:sp>
      <p:sp>
        <p:nvSpPr>
          <p:cNvPr id="22" name="Text 19"/>
          <p:cNvSpPr/>
          <p:nvPr/>
        </p:nvSpPr>
        <p:spPr>
          <a:xfrm>
            <a:off x="3521869" y="1369814"/>
            <a:ext cx="928688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BARRA</a:t>
            </a:r>
            <a:endParaRPr lang="en-US" sz="485" dirty="0"/>
          </a:p>
        </p:txBody>
      </p:sp>
      <p:sp>
        <p:nvSpPr>
          <p:cNvPr id="23" name="Text 20"/>
          <p:cNvSpPr/>
          <p:nvPr/>
        </p:nvSpPr>
        <p:spPr>
          <a:xfrm>
            <a:off x="357188" y="1593056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auth.logout.test.ts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57188" y="1730573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Logout, sessão, cookie, revogação de token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2877341" y="1528763"/>
            <a:ext cx="644528" cy="36790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3521869" y="1693069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Text 24"/>
          <p:cNvSpPr/>
          <p:nvPr/>
        </p:nvSpPr>
        <p:spPr>
          <a:xfrm>
            <a:off x="357188" y="1957388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incidents.test.ts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57188" y="2094905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incidentes, IDOR, validação Zod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2877341" y="1896666"/>
            <a:ext cx="644528" cy="364331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3521869" y="2057400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Text 28"/>
          <p:cNvSpPr/>
          <p:nvPr/>
        </p:nvSpPr>
        <p:spPr>
          <a:xfrm>
            <a:off x="357188" y="2321719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advanced_features.test.ts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357188" y="2459236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avançados, CSV, perfil, admin stats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2877341" y="2260997"/>
            <a:ext cx="644528" cy="364331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987" dirty="0"/>
          </a:p>
        </p:txBody>
      </p:sp>
      <p:sp>
        <p:nvSpPr>
          <p:cNvPr id="34" name="Shape 31"/>
          <p:cNvSpPr/>
          <p:nvPr/>
        </p:nvSpPr>
        <p:spPr>
          <a:xfrm>
            <a:off x="3521869" y="2421731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5" name="Text 32"/>
          <p:cNvSpPr/>
          <p:nvPr/>
        </p:nvSpPr>
        <p:spPr>
          <a:xfrm>
            <a:off x="357188" y="2686050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admin.test.ts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357188" y="2823567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usuários, categorias, RBAC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2877341" y="2625328"/>
            <a:ext cx="644528" cy="364331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987" dirty="0"/>
          </a:p>
        </p:txBody>
      </p:sp>
      <p:sp>
        <p:nvSpPr>
          <p:cNvPr id="38" name="Shape 35"/>
          <p:cNvSpPr/>
          <p:nvPr/>
        </p:nvSpPr>
        <p:spPr>
          <a:xfrm>
            <a:off x="3521869" y="2786063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9" name="Text 36"/>
          <p:cNvSpPr/>
          <p:nvPr/>
        </p:nvSpPr>
        <p:spPr>
          <a:xfrm>
            <a:off x="357188" y="3050381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ml.test.ts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357188" y="3187898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Classificação, retreinamento, métricas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2877341" y="2989659"/>
            <a:ext cx="644528" cy="364331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987" dirty="0"/>
          </a:p>
        </p:txBody>
      </p:sp>
      <p:sp>
        <p:nvSpPr>
          <p:cNvPr id="42" name="Shape 39"/>
          <p:cNvSpPr/>
          <p:nvPr/>
        </p:nvSpPr>
        <p:spPr>
          <a:xfrm>
            <a:off x="3521869" y="3150394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3" name="Text 40"/>
          <p:cNvSpPr/>
          <p:nvPr/>
        </p:nvSpPr>
        <p:spPr>
          <a:xfrm>
            <a:off x="357188" y="3414713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followup.test.ts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357188" y="3552230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Status, notas, histórico, resolvedAt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2877341" y="3353991"/>
            <a:ext cx="644528" cy="364331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87" dirty="0"/>
          </a:p>
        </p:txBody>
      </p:sp>
      <p:sp>
        <p:nvSpPr>
          <p:cNvPr id="46" name="Shape 43"/>
          <p:cNvSpPr/>
          <p:nvPr/>
        </p:nvSpPr>
        <p:spPr>
          <a:xfrm>
            <a:off x="3521869" y="3514725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7" name="Text 44"/>
          <p:cNvSpPr/>
          <p:nvPr/>
        </p:nvSpPr>
        <p:spPr>
          <a:xfrm>
            <a:off x="357188" y="3779044"/>
            <a:ext cx="252015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session4–6.test.ts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357188" y="3916561"/>
            <a:ext cx="25201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PDF, busca, histórico, usuários, dataset, ML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2877341" y="3718322"/>
            <a:ext cx="644528" cy="3607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86</a:t>
            </a:r>
            <a:endParaRPr lang="en-US" sz="987" dirty="0"/>
          </a:p>
        </p:txBody>
      </p:sp>
      <p:sp>
        <p:nvSpPr>
          <p:cNvPr id="50" name="Shape 47"/>
          <p:cNvSpPr/>
          <p:nvPr/>
        </p:nvSpPr>
        <p:spPr>
          <a:xfrm>
            <a:off x="3521869" y="3879056"/>
            <a:ext cx="928688" cy="42863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1" name="Shape 48"/>
          <p:cNvSpPr/>
          <p:nvPr/>
        </p:nvSpPr>
        <p:spPr>
          <a:xfrm>
            <a:off x="4914900" y="1189434"/>
            <a:ext cx="3943350" cy="131445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Text 49"/>
          <p:cNvSpPr/>
          <p:nvPr/>
        </p:nvSpPr>
        <p:spPr>
          <a:xfrm>
            <a:off x="5029200" y="1289447"/>
            <a:ext cx="3714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 &amp; CONFIGURAÇÃO</a:t>
            </a:r>
            <a:endParaRPr lang="en-US" sz="516" dirty="0"/>
          </a:p>
        </p:txBody>
      </p:sp>
      <p:sp>
        <p:nvSpPr>
          <p:cNvPr id="53" name="Text 50"/>
          <p:cNvSpPr/>
          <p:nvPr/>
        </p:nvSpPr>
        <p:spPr>
          <a:xfrm>
            <a:off x="5029200" y="1491258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8226028" y="1491258"/>
            <a:ext cx="5179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Vitest 3.x</a:t>
            </a:r>
            <a:endParaRPr lang="en-US" sz="584" dirty="0"/>
          </a:p>
        </p:txBody>
      </p:sp>
      <p:sp>
        <p:nvSpPr>
          <p:cNvPr id="55" name="Text 52"/>
          <p:cNvSpPr/>
          <p:nvPr/>
        </p:nvSpPr>
        <p:spPr>
          <a:xfrm>
            <a:off x="5029200" y="1682353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Linguagem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8018859" y="1682353"/>
            <a:ext cx="7250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 5.9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5029200" y="1873448"/>
            <a:ext cx="4143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Ambiente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7811691" y="1873448"/>
            <a:ext cx="93225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 22 + jsdom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5029200" y="2064544"/>
            <a:ext cx="36254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Comando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8277820" y="2064544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pnpm test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5029200" y="2255639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</a:t>
            </a: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7656314" y="2255639"/>
            <a:ext cx="108763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 passed · 0 failed</a:t>
            </a:r>
            <a:endParaRPr lang="en-US" sz="584" dirty="0"/>
          </a:p>
        </p:txBody>
      </p:sp>
      <p:sp>
        <p:nvSpPr>
          <p:cNvPr id="63" name="Shape 60"/>
          <p:cNvSpPr/>
          <p:nvPr/>
        </p:nvSpPr>
        <p:spPr>
          <a:xfrm>
            <a:off x="4914900" y="2603897"/>
            <a:ext cx="3943350" cy="1564704"/>
          </a:xfrm>
          <a:prstGeom prst="rect">
            <a:avLst/>
          </a:prstGeom>
          <a:solidFill>
            <a:srgbClr val="3FB950">
              <a:alpha val="6000"/>
            </a:srgbClr>
          </a:solidFill>
          <a:ln w="9144">
            <a:solidFill>
              <a:srgbClr val="3FB950">
                <a:alpha val="2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0" y="2703909"/>
            <a:ext cx="3714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É TESTADO</a:t>
            </a:r>
            <a:endParaRPr lang="en-US" sz="516" dirty="0"/>
          </a:p>
        </p:txBody>
      </p:sp>
      <p:sp>
        <p:nvSpPr>
          <p:cNvPr id="65" name="Text 62"/>
          <p:cNvSpPr/>
          <p:nvPr/>
        </p:nvSpPr>
        <p:spPr>
          <a:xfrm>
            <a:off x="5129213" y="2905720"/>
            <a:ext cx="240208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login, logout, cookie, expiração de sessão</a:t>
            </a:r>
            <a:endParaRPr lang="en-US" sz="584" dirty="0"/>
          </a:p>
        </p:txBody>
      </p:sp>
      <p:sp>
        <p:nvSpPr>
          <p:cNvPr id="66" name="Text 63"/>
          <p:cNvSpPr/>
          <p:nvPr/>
        </p:nvSpPr>
        <p:spPr>
          <a:xfrm>
            <a:off x="5129213" y="3104294"/>
            <a:ext cx="246638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acesso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RBAC, IDOR, proteção de rotas admin</a:t>
            </a:r>
            <a:endParaRPr lang="en-US" sz="584" dirty="0"/>
          </a:p>
        </p:txBody>
      </p:sp>
      <p:sp>
        <p:nvSpPr>
          <p:cNvPr id="67" name="Text 64"/>
          <p:cNvSpPr/>
          <p:nvPr/>
        </p:nvSpPr>
        <p:spPr>
          <a:xfrm>
            <a:off x="5129213" y="3302868"/>
            <a:ext cx="23681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classificação, retreinamento, last_updated, métricas</a:t>
            </a:r>
            <a:endParaRPr lang="en-US" sz="584" dirty="0"/>
          </a:p>
        </p:txBody>
      </p:sp>
      <p:sp>
        <p:nvSpPr>
          <p:cNvPr id="68" name="Text 65"/>
          <p:cNvSpPr/>
          <p:nvPr/>
        </p:nvSpPr>
        <p:spPr>
          <a:xfrm>
            <a:off x="5129213" y="3501442"/>
            <a:ext cx="2150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quebra de linha, modo admin, fallback PDFKit</a:t>
            </a:r>
            <a:endParaRPr lang="en-US" sz="584" dirty="0"/>
          </a:p>
        </p:txBody>
      </p:sp>
      <p:sp>
        <p:nvSpPr>
          <p:cNvPr id="69" name="Text 66"/>
          <p:cNvSpPr/>
          <p:nvPr/>
        </p:nvSpPr>
        <p:spPr>
          <a:xfrm>
            <a:off x="5129213" y="3700016"/>
            <a:ext cx="247709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addIncidentHistory, getIncidentHistory, auditoria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5129213" y="3898590"/>
            <a:ext cx="224670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validação Zod, enums, campos obrigatórios</a:t>
            </a:r>
            <a:endParaRPr lang="en-US" sz="584" dirty="0"/>
          </a:p>
        </p:txBody>
      </p:sp>
      <p:sp>
        <p:nvSpPr>
          <p:cNvPr id="71" name="Shape 68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3" name="Text 70"/>
          <p:cNvSpPr/>
          <p:nvPr/>
        </p:nvSpPr>
        <p:spPr>
          <a:xfrm>
            <a:off x="214313" y="4962227"/>
            <a:ext cx="17502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Testes Automatizados</a:t>
            </a:r>
            <a:endParaRPr lang="en-US" sz="516" dirty="0"/>
          </a:p>
        </p:txBody>
      </p:sp>
      <p:sp>
        <p:nvSpPr>
          <p:cNvPr id="74" name="Text 71"/>
          <p:cNvSpPr/>
          <p:nvPr/>
        </p:nvSpPr>
        <p:spPr>
          <a:xfrm>
            <a:off x="6772275" y="4961334"/>
            <a:ext cx="19431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 · Qualidade</a:t>
            </a:r>
            <a:endParaRPr lang="en-US" sz="5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179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03622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88059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</a:t>
            </a:r>
            <a:r>
              <a:rPr lang="en-US" sz="109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Camadas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03622"/>
            <a:ext cx="9144000" cy="267891"/>
          </a:xfrm>
          <a:prstGeom prst="rect">
            <a:avLst/>
          </a:prstGeom>
          <a:solidFill>
            <a:srgbClr val="F85149">
              <a:alpha val="7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64369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446484"/>
            <a:ext cx="1521619" cy="17502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DEFESA EM PROFUNDIDADE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1978819" y="453628"/>
            <a:ext cx="482203" cy="160734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2518172" y="466130"/>
            <a:ext cx="600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635346" y="453628"/>
            <a:ext cx="714375" cy="160734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Autenticação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3406871" y="466130"/>
            <a:ext cx="600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524045" y="453628"/>
            <a:ext cx="667941" cy="160734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Autorização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4249136" y="466130"/>
            <a:ext cx="600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366310" y="453628"/>
            <a:ext cx="389334" cy="160734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Dados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4812795" y="466130"/>
            <a:ext cx="600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929969" y="453628"/>
            <a:ext cx="621506" cy="160734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Transporte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285750" y="721519"/>
            <a:ext cx="436483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CAMADAS DE SEGURANÇA IMPLEMENTADAS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285750" y="973336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628650" y="959048"/>
            <a:ext cx="40219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Entrada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628650" y="1109067"/>
            <a:ext cx="732234" cy="146447"/>
          </a:xfrm>
          <a:prstGeom prst="rect">
            <a:avLst/>
          </a:prstGeom>
          <a:solidFill>
            <a:srgbClr val="F85149">
              <a:alpha val="5000"/>
            </a:srgbClr>
          </a:solidFill>
          <a:ln w="9144">
            <a:solidFill>
              <a:srgbClr val="F85149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8650" y="1109067"/>
            <a:ext cx="732234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Zod (backend)</a:t>
            </a:r>
            <a:endParaRPr lang="en-US" sz="568" dirty="0"/>
          </a:p>
        </p:txBody>
      </p:sp>
      <p:sp>
        <p:nvSpPr>
          <p:cNvPr id="25" name="Shape 22"/>
          <p:cNvSpPr/>
          <p:nvPr/>
        </p:nvSpPr>
        <p:spPr>
          <a:xfrm>
            <a:off x="1368028" y="1109067"/>
            <a:ext cx="732234" cy="146447"/>
          </a:xfrm>
          <a:prstGeom prst="rect">
            <a:avLst/>
          </a:prstGeom>
          <a:solidFill>
            <a:srgbClr val="F85149">
              <a:alpha val="5000"/>
            </a:srgbClr>
          </a:solidFill>
          <a:ln w="9144">
            <a:solidFill>
              <a:srgbClr val="F85149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68028" y="1109067"/>
            <a:ext cx="732234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 (schemas)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2107406" y="1109067"/>
            <a:ext cx="825103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Hook Form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2953941" y="1109067"/>
            <a:ext cx="964406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Checklist de senha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628650" y="1284089"/>
            <a:ext cx="40219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8+ chars, maiúscula, número, especial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validado no frontend e revalidado no backend antes de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qualquer operação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285750" y="1716956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628650" y="1702668"/>
            <a:ext cx="40219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628650" y="1852687"/>
            <a:ext cx="685800" cy="146447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8650" y="1852687"/>
            <a:ext cx="685800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JWT HttpOnly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1321594" y="1852687"/>
            <a:ext cx="825103" cy="146447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21594" y="1852687"/>
            <a:ext cx="825103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bcrypt custo 12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2153841" y="1852687"/>
            <a:ext cx="825103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SameSite=Strict</a:t>
            </a:r>
            <a:endParaRPr lang="en-US" sz="568" dirty="0"/>
          </a:p>
        </p:txBody>
      </p:sp>
      <p:sp>
        <p:nvSpPr>
          <p:cNvPr id="37" name="Text 34"/>
          <p:cNvSpPr/>
          <p:nvPr/>
        </p:nvSpPr>
        <p:spPr>
          <a:xfrm>
            <a:off x="3000375" y="1852687"/>
            <a:ext cx="685800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Expiração 7d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628650" y="2027709"/>
            <a:ext cx="40219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HttpOnly + Secure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inacessível via JavaScript; bcrypt custo 12 = ~250ms por hash,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resistente a brute force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285750" y="2460575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97" dirty="0"/>
          </a:p>
        </p:txBody>
      </p:sp>
      <p:sp>
        <p:nvSpPr>
          <p:cNvPr id="40" name="Text 37"/>
          <p:cNvSpPr/>
          <p:nvPr/>
        </p:nvSpPr>
        <p:spPr>
          <a:xfrm>
            <a:off x="628650" y="2446288"/>
            <a:ext cx="40219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Autorização e Controle de Acesso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628650" y="2596307"/>
            <a:ext cx="825103" cy="146447"/>
          </a:xfrm>
          <a:prstGeom prst="rect">
            <a:avLst/>
          </a:prstGeom>
          <a:solidFill>
            <a:srgbClr val="FF8A00">
              <a:alpha val="5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8650" y="2596307"/>
            <a:ext cx="825103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RBAC user/admin</a:t>
            </a:r>
            <a:endParaRPr lang="en-US" sz="568" dirty="0"/>
          </a:p>
        </p:txBody>
      </p:sp>
      <p:sp>
        <p:nvSpPr>
          <p:cNvPr id="43" name="Shape 40"/>
          <p:cNvSpPr/>
          <p:nvPr/>
        </p:nvSpPr>
        <p:spPr>
          <a:xfrm>
            <a:off x="1460897" y="2596307"/>
            <a:ext cx="778669" cy="146447"/>
          </a:xfrm>
          <a:prstGeom prst="rect">
            <a:avLst/>
          </a:prstGeom>
          <a:solidFill>
            <a:srgbClr val="FF8A00">
              <a:alpha val="5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460897" y="2596307"/>
            <a:ext cx="778669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adminProcedure</a:t>
            </a:r>
            <a:endParaRPr lang="en-US" sz="568" dirty="0"/>
          </a:p>
        </p:txBody>
      </p:sp>
      <p:sp>
        <p:nvSpPr>
          <p:cNvPr id="45" name="Text 42"/>
          <p:cNvSpPr/>
          <p:nvPr/>
        </p:nvSpPr>
        <p:spPr>
          <a:xfrm>
            <a:off x="2246709" y="2596307"/>
            <a:ext cx="964406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protectedProcedure</a:t>
            </a:r>
            <a:endParaRPr lang="en-US" sz="568" dirty="0"/>
          </a:p>
        </p:txBody>
      </p:sp>
      <p:sp>
        <p:nvSpPr>
          <p:cNvPr id="46" name="Text 43"/>
          <p:cNvSpPr/>
          <p:nvPr/>
        </p:nvSpPr>
        <p:spPr>
          <a:xfrm>
            <a:off x="3232547" y="2596307"/>
            <a:ext cx="732234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Proteção IDOR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628650" y="2771329"/>
            <a:ext cx="40219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procedure verifica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ctx.user.id === incident.userId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usuário não acessa dados de outros;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tem role separado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285750" y="3204195"/>
            <a:ext cx="257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97" dirty="0"/>
          </a:p>
        </p:txBody>
      </p:sp>
      <p:sp>
        <p:nvSpPr>
          <p:cNvPr id="49" name="Text 46"/>
          <p:cNvSpPr/>
          <p:nvPr/>
        </p:nvSpPr>
        <p:spPr>
          <a:xfrm>
            <a:off x="628650" y="3189908"/>
            <a:ext cx="40219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Contra Ataques</a:t>
            </a:r>
            <a:endParaRPr lang="en-US" sz="683" dirty="0"/>
          </a:p>
        </p:txBody>
      </p:sp>
      <p:sp>
        <p:nvSpPr>
          <p:cNvPr id="50" name="Shape 47"/>
          <p:cNvSpPr/>
          <p:nvPr/>
        </p:nvSpPr>
        <p:spPr>
          <a:xfrm>
            <a:off x="628650" y="3339926"/>
            <a:ext cx="732234" cy="146447"/>
          </a:xfrm>
          <a:prstGeom prst="rect">
            <a:avLst/>
          </a:prstGeom>
          <a:solidFill>
            <a:srgbClr val="3FB950">
              <a:alpha val="5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8650" y="3339926"/>
            <a:ext cx="732234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Timing attack</a:t>
            </a:r>
            <a:endParaRPr lang="en-US" sz="568" dirty="0"/>
          </a:p>
        </p:txBody>
      </p:sp>
      <p:sp>
        <p:nvSpPr>
          <p:cNvPr id="52" name="Shape 49"/>
          <p:cNvSpPr/>
          <p:nvPr/>
        </p:nvSpPr>
        <p:spPr>
          <a:xfrm>
            <a:off x="1368028" y="3339926"/>
            <a:ext cx="732234" cy="146447"/>
          </a:xfrm>
          <a:prstGeom prst="rect">
            <a:avLst/>
          </a:prstGeom>
          <a:solidFill>
            <a:srgbClr val="3FB950">
              <a:alpha val="5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368028" y="3339926"/>
            <a:ext cx="732234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 Injection</a:t>
            </a:r>
            <a:endParaRPr lang="en-US" sz="568" dirty="0"/>
          </a:p>
        </p:txBody>
      </p:sp>
      <p:sp>
        <p:nvSpPr>
          <p:cNvPr id="54" name="Text 51"/>
          <p:cNvSpPr/>
          <p:nvPr/>
        </p:nvSpPr>
        <p:spPr>
          <a:xfrm>
            <a:off x="2107406" y="3339926"/>
            <a:ext cx="639366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Drizzle ORM</a:t>
            </a:r>
            <a:endParaRPr lang="en-US" sz="568" dirty="0"/>
          </a:p>
        </p:txBody>
      </p:sp>
      <p:sp>
        <p:nvSpPr>
          <p:cNvPr id="55" name="Text 52"/>
          <p:cNvSpPr/>
          <p:nvPr/>
        </p:nvSpPr>
        <p:spPr>
          <a:xfrm>
            <a:off x="2768203" y="3339926"/>
            <a:ext cx="592931" cy="146447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Rate limit</a:t>
            </a:r>
            <a:endParaRPr lang="en-US" sz="568" dirty="0"/>
          </a:p>
        </p:txBody>
      </p:sp>
      <p:sp>
        <p:nvSpPr>
          <p:cNvPr id="56" name="Text 53"/>
          <p:cNvSpPr/>
          <p:nvPr/>
        </p:nvSpPr>
        <p:spPr>
          <a:xfrm>
            <a:off x="628650" y="3514948"/>
            <a:ext cx="402193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bcrypt.compare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tempo constante; Drizzle ORM usa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statements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zero SQL injection;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parâmetros tipados pelo Zod</a:t>
            </a:r>
            <a:endParaRPr lang="en-US" sz="584" dirty="0"/>
          </a:p>
        </p:txBody>
      </p:sp>
      <p:sp>
        <p:nvSpPr>
          <p:cNvPr id="57" name="Shape 54"/>
          <p:cNvSpPr/>
          <p:nvPr/>
        </p:nvSpPr>
        <p:spPr>
          <a:xfrm>
            <a:off x="5000625" y="721519"/>
            <a:ext cx="394335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Text 55"/>
          <p:cNvSpPr/>
          <p:nvPr/>
        </p:nvSpPr>
        <p:spPr>
          <a:xfrm>
            <a:off x="5086350" y="778669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JWT — CONFIGURAÇÃO DO TOKEN</a:t>
            </a:r>
            <a:endParaRPr lang="en-US" sz="516" dirty="0"/>
          </a:p>
        </p:txBody>
      </p:sp>
      <p:sp>
        <p:nvSpPr>
          <p:cNvPr id="59" name="Text 56"/>
          <p:cNvSpPr/>
          <p:nvPr/>
        </p:nvSpPr>
        <p:spPr>
          <a:xfrm>
            <a:off x="5086350" y="959048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Algoritmo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8599289" y="959048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HS256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5086350" y="1135856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Expiração</a:t>
            </a: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8547497" y="1135856"/>
            <a:ext cx="3107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dias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5086350" y="1312664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Cookie flags</a:t>
            </a:r>
            <a:endParaRPr lang="en-US" sz="621" dirty="0"/>
          </a:p>
        </p:txBody>
      </p:sp>
      <p:sp>
        <p:nvSpPr>
          <p:cNvPr id="64" name="Text 61"/>
          <p:cNvSpPr/>
          <p:nvPr/>
        </p:nvSpPr>
        <p:spPr>
          <a:xfrm>
            <a:off x="7045523" y="1312664"/>
            <a:ext cx="181272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HttpOnly · Secure · SameSite=Strict</a:t>
            </a:r>
            <a:endParaRPr lang="en-US" sz="584" dirty="0"/>
          </a:p>
        </p:txBody>
      </p:sp>
      <p:sp>
        <p:nvSpPr>
          <p:cNvPr id="65" name="Text 62"/>
          <p:cNvSpPr/>
          <p:nvPr/>
        </p:nvSpPr>
        <p:spPr>
          <a:xfrm>
            <a:off x="5086350" y="1489472"/>
            <a:ext cx="36254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Payload</a:t>
            </a:r>
            <a:endParaRPr lang="en-US" sz="621" dirty="0"/>
          </a:p>
        </p:txBody>
      </p:sp>
      <p:sp>
        <p:nvSpPr>
          <p:cNvPr id="66" name="Text 63"/>
          <p:cNvSpPr/>
          <p:nvPr/>
        </p:nvSpPr>
        <p:spPr>
          <a:xfrm>
            <a:off x="7563445" y="1489472"/>
            <a:ext cx="12948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userId · role · iat · exp</a:t>
            </a:r>
            <a:endParaRPr lang="en-US" sz="584" dirty="0"/>
          </a:p>
        </p:txBody>
      </p:sp>
      <p:sp>
        <p:nvSpPr>
          <p:cNvPr id="67" name="Text 64"/>
          <p:cNvSpPr/>
          <p:nvPr/>
        </p:nvSpPr>
        <p:spPr>
          <a:xfrm>
            <a:off x="5086350" y="1666280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Revogação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7149108" y="1666280"/>
            <a:ext cx="170914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Logout limpa cookie imediatamente</a:t>
            </a:r>
            <a:endParaRPr lang="en-US" sz="584" dirty="0"/>
          </a:p>
        </p:txBody>
      </p:sp>
      <p:sp>
        <p:nvSpPr>
          <p:cNvPr id="69" name="Shape 66"/>
          <p:cNvSpPr/>
          <p:nvPr/>
        </p:nvSpPr>
        <p:spPr>
          <a:xfrm>
            <a:off x="5000625" y="1921669"/>
            <a:ext cx="3943350" cy="15448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0" name="Text 67"/>
          <p:cNvSpPr/>
          <p:nvPr/>
        </p:nvSpPr>
        <p:spPr>
          <a:xfrm>
            <a:off x="5086350" y="1978819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RBAC — MATRIZ DE PERMISSÕES</a:t>
            </a:r>
            <a:endParaRPr lang="en-US" sz="516" dirty="0"/>
          </a:p>
        </p:txBody>
      </p:sp>
      <p:sp>
        <p:nvSpPr>
          <p:cNvPr id="71" name="Shape 68"/>
          <p:cNvSpPr/>
          <p:nvPr/>
        </p:nvSpPr>
        <p:spPr>
          <a:xfrm>
            <a:off x="5086350" y="2130623"/>
            <a:ext cx="3771900" cy="1278731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2" name="Shape 69"/>
          <p:cNvSpPr/>
          <p:nvPr/>
        </p:nvSpPr>
        <p:spPr>
          <a:xfrm>
            <a:off x="5086350" y="2130623"/>
            <a:ext cx="1252528" cy="1803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3" name="Text 70"/>
          <p:cNvSpPr/>
          <p:nvPr/>
        </p:nvSpPr>
        <p:spPr>
          <a:xfrm>
            <a:off x="5143500" y="2173486"/>
            <a:ext cx="113822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RECURSO</a:t>
            </a:r>
            <a:endParaRPr lang="en-US" sz="516" dirty="0"/>
          </a:p>
        </p:txBody>
      </p:sp>
      <p:sp>
        <p:nvSpPr>
          <p:cNvPr id="74" name="Shape 71"/>
          <p:cNvSpPr/>
          <p:nvPr/>
        </p:nvSpPr>
        <p:spPr>
          <a:xfrm>
            <a:off x="6346022" y="2130623"/>
            <a:ext cx="1252528" cy="1803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5" name="Text 72"/>
          <p:cNvSpPr/>
          <p:nvPr/>
        </p:nvSpPr>
        <p:spPr>
          <a:xfrm>
            <a:off x="6403172" y="2173486"/>
            <a:ext cx="113822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516" dirty="0"/>
          </a:p>
        </p:txBody>
      </p:sp>
      <p:sp>
        <p:nvSpPr>
          <p:cNvPr id="76" name="Shape 73"/>
          <p:cNvSpPr/>
          <p:nvPr/>
        </p:nvSpPr>
        <p:spPr>
          <a:xfrm>
            <a:off x="7605694" y="2130623"/>
            <a:ext cx="1252528" cy="1803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7" name="Text 74"/>
          <p:cNvSpPr/>
          <p:nvPr/>
        </p:nvSpPr>
        <p:spPr>
          <a:xfrm>
            <a:off x="7662844" y="2173486"/>
            <a:ext cx="113822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</a:t>
            </a:r>
            <a:endParaRPr lang="en-US" sz="516" dirty="0"/>
          </a:p>
        </p:txBody>
      </p:sp>
      <p:sp>
        <p:nvSpPr>
          <p:cNvPr id="78" name="Shape 75"/>
          <p:cNvSpPr/>
          <p:nvPr/>
        </p:nvSpPr>
        <p:spPr>
          <a:xfrm>
            <a:off x="5086350" y="231814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9" name="Text 76"/>
          <p:cNvSpPr/>
          <p:nvPr/>
        </p:nvSpPr>
        <p:spPr>
          <a:xfrm>
            <a:off x="5143500" y="237529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Próprios incidentes</a:t>
            </a:r>
            <a:endParaRPr lang="en-US" sz="621" dirty="0"/>
          </a:p>
        </p:txBody>
      </p:sp>
      <p:sp>
        <p:nvSpPr>
          <p:cNvPr id="80" name="Shape 77"/>
          <p:cNvSpPr/>
          <p:nvPr/>
        </p:nvSpPr>
        <p:spPr>
          <a:xfrm>
            <a:off x="6346022" y="231814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1" name="Text 78"/>
          <p:cNvSpPr/>
          <p:nvPr/>
        </p:nvSpPr>
        <p:spPr>
          <a:xfrm>
            <a:off x="6403172" y="237529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CRUD</a:t>
            </a:r>
            <a:endParaRPr lang="en-US" sz="621" dirty="0"/>
          </a:p>
        </p:txBody>
      </p:sp>
      <p:sp>
        <p:nvSpPr>
          <p:cNvPr id="82" name="Shape 79"/>
          <p:cNvSpPr/>
          <p:nvPr/>
        </p:nvSpPr>
        <p:spPr>
          <a:xfrm>
            <a:off x="7605694" y="231814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3" name="Text 80"/>
          <p:cNvSpPr/>
          <p:nvPr/>
        </p:nvSpPr>
        <p:spPr>
          <a:xfrm>
            <a:off x="7662844" y="237529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CRUD</a:t>
            </a:r>
            <a:endParaRPr lang="en-US" sz="621" dirty="0"/>
          </a:p>
        </p:txBody>
      </p:sp>
      <p:sp>
        <p:nvSpPr>
          <p:cNvPr id="84" name="Shape 81"/>
          <p:cNvSpPr/>
          <p:nvPr/>
        </p:nvSpPr>
        <p:spPr>
          <a:xfrm>
            <a:off x="5086350" y="253781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5" name="Text 82"/>
          <p:cNvSpPr/>
          <p:nvPr/>
        </p:nvSpPr>
        <p:spPr>
          <a:xfrm>
            <a:off x="5143500" y="259496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Todos os incidentes</a:t>
            </a:r>
            <a:endParaRPr lang="en-US" sz="621" dirty="0"/>
          </a:p>
        </p:txBody>
      </p:sp>
      <p:sp>
        <p:nvSpPr>
          <p:cNvPr id="86" name="Shape 83"/>
          <p:cNvSpPr/>
          <p:nvPr/>
        </p:nvSpPr>
        <p:spPr>
          <a:xfrm>
            <a:off x="6346022" y="253781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7" name="Text 84"/>
          <p:cNvSpPr/>
          <p:nvPr/>
        </p:nvSpPr>
        <p:spPr>
          <a:xfrm>
            <a:off x="6403172" y="259496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NEGADO</a:t>
            </a:r>
            <a:endParaRPr lang="en-US" sz="621" dirty="0"/>
          </a:p>
        </p:txBody>
      </p:sp>
      <p:sp>
        <p:nvSpPr>
          <p:cNvPr id="88" name="Shape 85"/>
          <p:cNvSpPr/>
          <p:nvPr/>
        </p:nvSpPr>
        <p:spPr>
          <a:xfrm>
            <a:off x="7605694" y="2537817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9" name="Text 86"/>
          <p:cNvSpPr/>
          <p:nvPr/>
        </p:nvSpPr>
        <p:spPr>
          <a:xfrm>
            <a:off x="7662844" y="2594967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READ</a:t>
            </a:r>
            <a:endParaRPr lang="en-US" sz="621" dirty="0"/>
          </a:p>
        </p:txBody>
      </p:sp>
      <p:sp>
        <p:nvSpPr>
          <p:cNvPr id="90" name="Shape 87"/>
          <p:cNvSpPr/>
          <p:nvPr/>
        </p:nvSpPr>
        <p:spPr>
          <a:xfrm>
            <a:off x="5086350" y="275748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1" name="Text 88"/>
          <p:cNvSpPr/>
          <p:nvPr/>
        </p:nvSpPr>
        <p:spPr>
          <a:xfrm>
            <a:off x="5143500" y="281463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Gerenciar usuários</a:t>
            </a:r>
            <a:endParaRPr lang="en-US" sz="621" dirty="0"/>
          </a:p>
        </p:txBody>
      </p:sp>
      <p:sp>
        <p:nvSpPr>
          <p:cNvPr id="92" name="Shape 89"/>
          <p:cNvSpPr/>
          <p:nvPr/>
        </p:nvSpPr>
        <p:spPr>
          <a:xfrm>
            <a:off x="6346022" y="275748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3" name="Text 90"/>
          <p:cNvSpPr/>
          <p:nvPr/>
        </p:nvSpPr>
        <p:spPr>
          <a:xfrm>
            <a:off x="6403172" y="281463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NEGADO</a:t>
            </a:r>
            <a:endParaRPr lang="en-US" sz="621" dirty="0"/>
          </a:p>
        </p:txBody>
      </p:sp>
      <p:sp>
        <p:nvSpPr>
          <p:cNvPr id="94" name="Shape 91"/>
          <p:cNvSpPr/>
          <p:nvPr/>
        </p:nvSpPr>
        <p:spPr>
          <a:xfrm>
            <a:off x="7605694" y="275748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5" name="Text 92"/>
          <p:cNvSpPr/>
          <p:nvPr/>
        </p:nvSpPr>
        <p:spPr>
          <a:xfrm>
            <a:off x="7662844" y="281463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FULL</a:t>
            </a:r>
            <a:endParaRPr lang="en-US" sz="621" dirty="0"/>
          </a:p>
        </p:txBody>
      </p:sp>
      <p:sp>
        <p:nvSpPr>
          <p:cNvPr id="96" name="Shape 93"/>
          <p:cNvSpPr/>
          <p:nvPr/>
        </p:nvSpPr>
        <p:spPr>
          <a:xfrm>
            <a:off x="5086350" y="297715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7" name="Text 94"/>
          <p:cNvSpPr/>
          <p:nvPr/>
        </p:nvSpPr>
        <p:spPr>
          <a:xfrm>
            <a:off x="5143500" y="303430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Painel ML</a:t>
            </a:r>
            <a:endParaRPr lang="en-US" sz="621" dirty="0"/>
          </a:p>
        </p:txBody>
      </p:sp>
      <p:sp>
        <p:nvSpPr>
          <p:cNvPr id="98" name="Shape 95"/>
          <p:cNvSpPr/>
          <p:nvPr/>
        </p:nvSpPr>
        <p:spPr>
          <a:xfrm>
            <a:off x="6346022" y="297715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9" name="Text 96"/>
          <p:cNvSpPr/>
          <p:nvPr/>
        </p:nvSpPr>
        <p:spPr>
          <a:xfrm>
            <a:off x="6403172" y="303430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NEGADO</a:t>
            </a:r>
            <a:endParaRPr lang="en-US" sz="621" dirty="0"/>
          </a:p>
        </p:txBody>
      </p:sp>
      <p:sp>
        <p:nvSpPr>
          <p:cNvPr id="100" name="Shape 97"/>
          <p:cNvSpPr/>
          <p:nvPr/>
        </p:nvSpPr>
        <p:spPr>
          <a:xfrm>
            <a:off x="7605694" y="297715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1" name="Text 98"/>
          <p:cNvSpPr/>
          <p:nvPr/>
        </p:nvSpPr>
        <p:spPr>
          <a:xfrm>
            <a:off x="7662844" y="303430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FULL</a:t>
            </a:r>
            <a:endParaRPr lang="en-US" sz="621" dirty="0"/>
          </a:p>
        </p:txBody>
      </p:sp>
      <p:sp>
        <p:nvSpPr>
          <p:cNvPr id="102" name="Shape 99"/>
          <p:cNvSpPr/>
          <p:nvPr/>
        </p:nvSpPr>
        <p:spPr>
          <a:xfrm>
            <a:off x="5086350" y="319682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3" name="Text 100"/>
          <p:cNvSpPr/>
          <p:nvPr/>
        </p:nvSpPr>
        <p:spPr>
          <a:xfrm>
            <a:off x="5143500" y="325397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Categorias</a:t>
            </a:r>
            <a:endParaRPr lang="en-US" sz="621" dirty="0"/>
          </a:p>
        </p:txBody>
      </p:sp>
      <p:sp>
        <p:nvSpPr>
          <p:cNvPr id="104" name="Shape 101"/>
          <p:cNvSpPr/>
          <p:nvPr/>
        </p:nvSpPr>
        <p:spPr>
          <a:xfrm>
            <a:off x="6346022" y="319682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5" name="Text 102"/>
          <p:cNvSpPr/>
          <p:nvPr/>
        </p:nvSpPr>
        <p:spPr>
          <a:xfrm>
            <a:off x="6403172" y="325397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NEGADO</a:t>
            </a:r>
            <a:endParaRPr lang="en-US" sz="621" dirty="0"/>
          </a:p>
        </p:txBody>
      </p:sp>
      <p:sp>
        <p:nvSpPr>
          <p:cNvPr id="106" name="Shape 103"/>
          <p:cNvSpPr/>
          <p:nvPr/>
        </p:nvSpPr>
        <p:spPr>
          <a:xfrm>
            <a:off x="7605694" y="3196828"/>
            <a:ext cx="1252528" cy="2125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7" name="Text 104"/>
          <p:cNvSpPr/>
          <p:nvPr/>
        </p:nvSpPr>
        <p:spPr>
          <a:xfrm>
            <a:off x="7662844" y="3253978"/>
            <a:ext cx="11382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CRUD</a:t>
            </a:r>
            <a:endParaRPr lang="en-US" sz="621" dirty="0"/>
          </a:p>
        </p:txBody>
      </p:sp>
      <p:sp>
        <p:nvSpPr>
          <p:cNvPr id="108" name="Shape 105"/>
          <p:cNvSpPr/>
          <p:nvPr/>
        </p:nvSpPr>
        <p:spPr>
          <a:xfrm>
            <a:off x="5000625" y="3523655"/>
            <a:ext cx="3943350" cy="7893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9" name="Text 106"/>
          <p:cNvSpPr/>
          <p:nvPr/>
        </p:nvSpPr>
        <p:spPr>
          <a:xfrm>
            <a:off x="5086350" y="3580805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SENHA DEFAULT DE RESET</a:t>
            </a:r>
            <a:endParaRPr lang="en-US" sz="516" dirty="0"/>
          </a:p>
        </p:txBody>
      </p:sp>
      <p:sp>
        <p:nvSpPr>
          <p:cNvPr id="110" name="Text 107"/>
          <p:cNvSpPr/>
          <p:nvPr/>
        </p:nvSpPr>
        <p:spPr>
          <a:xfrm>
            <a:off x="5086350" y="3761184"/>
            <a:ext cx="2589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</a:t>
            </a:r>
            <a:endParaRPr lang="en-US" sz="621" dirty="0"/>
          </a:p>
        </p:txBody>
      </p:sp>
      <p:sp>
        <p:nvSpPr>
          <p:cNvPr id="111" name="Text 108"/>
          <p:cNvSpPr/>
          <p:nvPr/>
        </p:nvSpPr>
        <p:spPr>
          <a:xfrm>
            <a:off x="8184952" y="3761184"/>
            <a:ext cx="67329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Security2026@</a:t>
            </a:r>
            <a:endParaRPr lang="en-US" sz="584" dirty="0"/>
          </a:p>
        </p:txBody>
      </p:sp>
      <p:sp>
        <p:nvSpPr>
          <p:cNvPr id="112" name="Text 109"/>
          <p:cNvSpPr/>
          <p:nvPr/>
        </p:nvSpPr>
        <p:spPr>
          <a:xfrm>
            <a:off x="5086350" y="3937992"/>
            <a:ext cx="2071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</a:t>
            </a:r>
            <a:endParaRPr lang="en-US" sz="621" dirty="0"/>
          </a:p>
        </p:txBody>
      </p:sp>
      <p:sp>
        <p:nvSpPr>
          <p:cNvPr id="113" name="Text 110"/>
          <p:cNvSpPr/>
          <p:nvPr/>
        </p:nvSpPr>
        <p:spPr>
          <a:xfrm>
            <a:off x="7304484" y="3937992"/>
            <a:ext cx="15537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bcrypt · custo 12 · salt único</a:t>
            </a:r>
            <a:endParaRPr lang="en-US" sz="584" dirty="0"/>
          </a:p>
        </p:txBody>
      </p:sp>
      <p:sp>
        <p:nvSpPr>
          <p:cNvPr id="114" name="Text 111"/>
          <p:cNvSpPr/>
          <p:nvPr/>
        </p:nvSpPr>
        <p:spPr>
          <a:xfrm>
            <a:off x="5086350" y="4114800"/>
            <a:ext cx="8286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Ação obrigatória</a:t>
            </a:r>
            <a:endParaRPr lang="en-US" sz="621" dirty="0"/>
          </a:p>
        </p:txBody>
      </p:sp>
      <p:sp>
        <p:nvSpPr>
          <p:cNvPr id="115" name="Text 112"/>
          <p:cNvSpPr/>
          <p:nvPr/>
        </p:nvSpPr>
        <p:spPr>
          <a:xfrm>
            <a:off x="7252692" y="4114800"/>
            <a:ext cx="160555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Usuário deve trocar no 1º login</a:t>
            </a:r>
            <a:endParaRPr lang="en-US" sz="584" dirty="0"/>
          </a:p>
        </p:txBody>
      </p:sp>
      <p:sp>
        <p:nvSpPr>
          <p:cNvPr id="116" name="Shape 113"/>
          <p:cNvSpPr/>
          <p:nvPr/>
        </p:nvSpPr>
        <p:spPr>
          <a:xfrm>
            <a:off x="0" y="4925616"/>
            <a:ext cx="914400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0" y="492561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8" name="Text 115"/>
          <p:cNvSpPr/>
          <p:nvPr/>
        </p:nvSpPr>
        <p:spPr>
          <a:xfrm>
            <a:off x="214313" y="4990802"/>
            <a:ext cx="17502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Segurança em Camadas</a:t>
            </a:r>
            <a:endParaRPr lang="en-US" sz="516" dirty="0"/>
          </a:p>
        </p:txBody>
      </p:sp>
      <p:sp>
        <p:nvSpPr>
          <p:cNvPr id="119" name="Text 116"/>
          <p:cNvSpPr/>
          <p:nvPr/>
        </p:nvSpPr>
        <p:spPr>
          <a:xfrm>
            <a:off x="7108031" y="4989909"/>
            <a:ext cx="175021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r>
              <a:rPr lang="en-US" sz="534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Backend · Segurança</a:t>
            </a:r>
            <a:endParaRPr lang="en-US" sz="5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24413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Demonstração: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Completo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32504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764381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357188" y="517922"/>
            <a:ext cx="610791" cy="17502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AO VIVO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1110853" y="549176"/>
            <a:ext cx="36790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 de </a:t>
            </a: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passos</a:t>
            </a: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 registro ao relatório consolidado em menos de </a:t>
            </a: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minutos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357188" y="907256"/>
            <a:ext cx="4236244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ROTEIRO DE DEMONSTRAÇÃO</a:t>
            </a:r>
            <a:endParaRPr lang="en-US" sz="516" dirty="0"/>
          </a:p>
        </p:txBody>
      </p:sp>
      <p:sp>
        <p:nvSpPr>
          <p:cNvPr id="13" name="Shape 10"/>
          <p:cNvSpPr/>
          <p:nvPr/>
        </p:nvSpPr>
        <p:spPr>
          <a:xfrm>
            <a:off x="392906" y="1101923"/>
            <a:ext cx="214313" cy="214313"/>
          </a:xfrm>
          <a:prstGeom prst="rect">
            <a:avLst/>
          </a:prstGeom>
          <a:solidFill>
            <a:srgbClr val="0D1117"/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2906" y="1101923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742950" y="1101923"/>
            <a:ext cx="38504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com Checklist de Senha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42950" y="1251942"/>
            <a:ext cx="3850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Perfil: Usuário → /register</a:t>
            </a:r>
            <a:endParaRPr lang="en-US" sz="568" dirty="0"/>
          </a:p>
        </p:txBody>
      </p:sp>
      <p:sp>
        <p:nvSpPr>
          <p:cNvPr id="17" name="Text 14"/>
          <p:cNvSpPr/>
          <p:nvPr/>
        </p:nvSpPr>
        <p:spPr>
          <a:xfrm>
            <a:off x="742950" y="1394817"/>
            <a:ext cx="38504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nova conta — mostrar 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em tempo real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8+ chars, maiúscula, número,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especial. Fazer login e acessar o dashboard.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392906" y="1734815"/>
            <a:ext cx="214313" cy="214313"/>
          </a:xfrm>
          <a:prstGeom prst="rect">
            <a:avLst/>
          </a:prstGeom>
          <a:solidFill>
            <a:srgbClr val="0D1117"/>
          </a:solidFill>
          <a:ln w="18288">
            <a:solidFill>
              <a:srgbClr val="FF8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2906" y="173481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742950" y="1734815"/>
            <a:ext cx="38504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Incidente com Classificação ML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742950" y="1884834"/>
            <a:ext cx="3850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Perfil: Usuário → /incidents/new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742950" y="2027709"/>
            <a:ext cx="38504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Preencher título e descrição de um ataque de phishing. Mostrar 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retornando em &lt;200ms com score de confiança.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392906" y="2367707"/>
            <a:ext cx="214313" cy="214313"/>
          </a:xfrm>
          <a:prstGeom prst="rect">
            <a:avLst/>
          </a:prstGeom>
          <a:solidFill>
            <a:srgbClr val="0D1117"/>
          </a:solidFill>
          <a:ln w="18288">
            <a:solidFill>
              <a:srgbClr val="D2A8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2906" y="2367707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742950" y="2367707"/>
            <a:ext cx="38504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com Histórico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742950" y="2517725"/>
            <a:ext cx="3850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Perfil: Usuário → /incidents/:id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742950" y="2660600"/>
            <a:ext cx="38504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o detalhe do incidente. Alterar status para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 Andamento"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comentário. Mostrar 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cronológica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alterações.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392906" y="3000598"/>
            <a:ext cx="214313" cy="214313"/>
          </a:xfrm>
          <a:prstGeom prst="rect">
            <a:avLst/>
          </a:prstGeom>
          <a:solidFill>
            <a:srgbClr val="0D1117"/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2906" y="300059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742950" y="3000598"/>
            <a:ext cx="38504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de Texto Completo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742950" y="3150617"/>
            <a:ext cx="3850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Perfil: Usuário → /incidents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742950" y="3293492"/>
            <a:ext cx="38504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Digitar "phishing" no campo de busca. Mostrar 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visual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 resultados. Aplicar filtro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risco "Crítico" — contador de filtros ativos.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392906" y="3633490"/>
            <a:ext cx="214313" cy="214313"/>
          </a:xfrm>
          <a:prstGeom prst="rect">
            <a:avLst/>
          </a:prstGeom>
          <a:solidFill>
            <a:srgbClr val="0D1117"/>
          </a:solidFill>
          <a:ln w="18288">
            <a:solidFill>
              <a:srgbClr val="3FB9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92906" y="363349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742950" y="3633490"/>
            <a:ext cx="38504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Admin: PDF Consolidado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742950" y="3783509"/>
            <a:ext cx="3850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Perfil: Admin → /admin</a:t>
            </a:r>
            <a:endParaRPr lang="en-US" sz="568" dirty="0"/>
          </a:p>
        </p:txBody>
      </p:sp>
      <p:sp>
        <p:nvSpPr>
          <p:cNvPr id="37" name="Text 34"/>
          <p:cNvSpPr/>
          <p:nvPr/>
        </p:nvSpPr>
        <p:spPr>
          <a:xfrm>
            <a:off x="742950" y="3926384"/>
            <a:ext cx="38504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Logar como admin. Mostrar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incidentes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sistema. Gerar relatório PDF consolidado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mostrar quebra de linha automática na coluna título.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5086350" y="907256"/>
            <a:ext cx="37719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NOTAS PARA O APRESENTADOR</a:t>
            </a:r>
            <a:endParaRPr lang="en-US" sz="516" dirty="0"/>
          </a:p>
        </p:txBody>
      </p:sp>
      <p:sp>
        <p:nvSpPr>
          <p:cNvPr id="39" name="Shape 36"/>
          <p:cNvSpPr/>
          <p:nvPr/>
        </p:nvSpPr>
        <p:spPr>
          <a:xfrm>
            <a:off x="5086350" y="1101923"/>
            <a:ext cx="3771900" cy="91183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7"/>
          <p:cNvSpPr/>
          <p:nvPr/>
        </p:nvSpPr>
        <p:spPr>
          <a:xfrm>
            <a:off x="5200650" y="1201936"/>
            <a:ext cx="35433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PASSOS 01–02 · KEVEN</a:t>
            </a:r>
            <a:endParaRPr lang="en-US" sz="516" dirty="0"/>
          </a:p>
        </p:txBody>
      </p:sp>
      <p:sp>
        <p:nvSpPr>
          <p:cNvPr id="41" name="Text 38"/>
          <p:cNvSpPr/>
          <p:nvPr/>
        </p:nvSpPr>
        <p:spPr>
          <a:xfrm>
            <a:off x="5293519" y="1396603"/>
            <a:ext cx="321825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/register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digitar senha fraca primeiro para mostrar o checklist falhando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5293519" y="1580890"/>
            <a:ext cx="333077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formulário de incidente, usar texto: </a:t>
            </a:r>
            <a:r>
              <a:rPr lang="en-US" sz="621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"Recebi e-mail pedindo senha corporativa"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5293519" y="1765176"/>
            <a:ext cx="303073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Destacar 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de confiança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retornado pelo modelo (ex: 94% Phishing)</a:t>
            </a:r>
            <a:endParaRPr lang="en-US" sz="621" dirty="0"/>
          </a:p>
        </p:txBody>
      </p:sp>
      <p:sp>
        <p:nvSpPr>
          <p:cNvPr id="44" name="Shape 41"/>
          <p:cNvSpPr/>
          <p:nvPr/>
        </p:nvSpPr>
        <p:spPr>
          <a:xfrm>
            <a:off x="5086350" y="2085194"/>
            <a:ext cx="3771900" cy="72754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2"/>
          <p:cNvSpPr/>
          <p:nvPr/>
        </p:nvSpPr>
        <p:spPr>
          <a:xfrm>
            <a:off x="5200650" y="2185206"/>
            <a:ext cx="35433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03 · JOSIAS</a:t>
            </a:r>
            <a:endParaRPr lang="en-US" sz="516" dirty="0"/>
          </a:p>
        </p:txBody>
      </p:sp>
      <p:sp>
        <p:nvSpPr>
          <p:cNvPr id="46" name="Text 43"/>
          <p:cNvSpPr/>
          <p:nvPr/>
        </p:nvSpPr>
        <p:spPr>
          <a:xfrm>
            <a:off x="5293519" y="2379873"/>
            <a:ext cx="332005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Alterar status para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 Andamento"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comentário: </a:t>
            </a:r>
            <a:r>
              <a:rPr lang="en-US" sz="621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"Iniciando análise forense"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5293519" y="2564160"/>
            <a:ext cx="275391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timestamp, usuário e valor anterior vs. novo</a:t>
            </a:r>
            <a:endParaRPr lang="en-US" sz="621" dirty="0"/>
          </a:p>
        </p:txBody>
      </p:sp>
      <p:sp>
        <p:nvSpPr>
          <p:cNvPr id="48" name="Shape 45"/>
          <p:cNvSpPr/>
          <p:nvPr/>
        </p:nvSpPr>
        <p:spPr>
          <a:xfrm>
            <a:off x="5086350" y="2884177"/>
            <a:ext cx="3771900" cy="91183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Text 46"/>
          <p:cNvSpPr/>
          <p:nvPr/>
        </p:nvSpPr>
        <p:spPr>
          <a:xfrm>
            <a:off x="5200650" y="2984190"/>
            <a:ext cx="354330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PASSOS 04–05 · MARGEFSON</a:t>
            </a:r>
            <a:endParaRPr lang="en-US" sz="516" dirty="0"/>
          </a:p>
        </p:txBody>
      </p:sp>
      <p:sp>
        <p:nvSpPr>
          <p:cNvPr id="50" name="Text 47"/>
          <p:cNvSpPr/>
          <p:nvPr/>
        </p:nvSpPr>
        <p:spPr>
          <a:xfrm>
            <a:off x="5293519" y="3178857"/>
            <a:ext cx="31503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Busca: digitar "phishing" — mostrar 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amarelo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título e descrição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5293519" y="3363144"/>
            <a:ext cx="344864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Admin: logar com conta admin — mostrar que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usuários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aparecem no painel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5293519" y="3547430"/>
            <a:ext cx="343435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 PDF — abrir o arquivo e mostrar a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quebra de linha automática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coluna título</a:t>
            </a:r>
            <a:endParaRPr lang="en-US" sz="621" dirty="0"/>
          </a:p>
        </p:txBody>
      </p:sp>
      <p:sp>
        <p:nvSpPr>
          <p:cNvPr id="53" name="Shape 50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5" name="Text 52"/>
          <p:cNvSpPr/>
          <p:nvPr/>
        </p:nvSpPr>
        <p:spPr>
          <a:xfrm>
            <a:off x="214313" y="4962227"/>
            <a:ext cx="17502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Demonstração ao Vivo</a:t>
            </a:r>
            <a:endParaRPr lang="en-US" sz="516" dirty="0"/>
          </a:p>
        </p:txBody>
      </p:sp>
      <p:sp>
        <p:nvSpPr>
          <p:cNvPr id="56" name="Text 53"/>
          <p:cNvSpPr/>
          <p:nvPr/>
        </p:nvSpPr>
        <p:spPr>
          <a:xfrm>
            <a:off x="7022306" y="4961334"/>
            <a:ext cx="169306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Roteiro colaborativo</a:t>
            </a:r>
            <a:endParaRPr lang="en-US" sz="53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7252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e </a:t>
            </a: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6572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10965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200025" y="621506"/>
            <a:ext cx="54113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97%</a:t>
            </a:r>
            <a:endParaRPr lang="en-US" sz="2121" dirty="0"/>
          </a:p>
        </p:txBody>
      </p:sp>
      <p:sp>
        <p:nvSpPr>
          <p:cNvPr id="11" name="Text 8"/>
          <p:cNvSpPr/>
          <p:nvPr/>
        </p:nvSpPr>
        <p:spPr>
          <a:xfrm>
            <a:off x="841177" y="589359"/>
            <a:ext cx="5625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ML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841177" y="716161"/>
            <a:ext cx="56257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meta: 90%</a:t>
            </a:r>
            <a:endParaRPr lang="en-US" sz="516" dirty="0"/>
          </a:p>
        </p:txBody>
      </p:sp>
      <p:sp>
        <p:nvSpPr>
          <p:cNvPr id="13" name="Shape 10"/>
          <p:cNvSpPr/>
          <p:nvPr/>
        </p:nvSpPr>
        <p:spPr>
          <a:xfrm>
            <a:off x="841177" y="825103"/>
            <a:ext cx="562570" cy="128588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177" y="825103"/>
            <a:ext cx="562570" cy="12858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+7pp</a:t>
            </a:r>
            <a:endParaRPr lang="en-US" sz="435" dirty="0"/>
          </a:p>
        </p:txBody>
      </p:sp>
      <p:sp>
        <p:nvSpPr>
          <p:cNvPr id="15" name="Text 12"/>
          <p:cNvSpPr/>
          <p:nvPr/>
        </p:nvSpPr>
        <p:spPr>
          <a:xfrm>
            <a:off x="2030248" y="621506"/>
            <a:ext cx="54113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2671400" y="589359"/>
            <a:ext cx="3857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2671400" y="716161"/>
            <a:ext cx="38576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meta: 300</a:t>
            </a:r>
            <a:endParaRPr lang="en-US" sz="516" dirty="0"/>
          </a:p>
        </p:txBody>
      </p:sp>
      <p:sp>
        <p:nvSpPr>
          <p:cNvPr id="18" name="Shape 15"/>
          <p:cNvSpPr/>
          <p:nvPr/>
        </p:nvSpPr>
        <p:spPr>
          <a:xfrm>
            <a:off x="2671400" y="825103"/>
            <a:ext cx="385763" cy="128588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71400" y="825103"/>
            <a:ext cx="385763" cy="12858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+47</a:t>
            </a:r>
            <a:endParaRPr lang="en-US" sz="435" dirty="0"/>
          </a:p>
        </p:txBody>
      </p:sp>
      <p:sp>
        <p:nvSpPr>
          <p:cNvPr id="20" name="Text 17"/>
          <p:cNvSpPr/>
          <p:nvPr/>
        </p:nvSpPr>
        <p:spPr>
          <a:xfrm>
            <a:off x="3860471" y="621506"/>
            <a:ext cx="7215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&lt;200</a:t>
            </a:r>
            <a:endParaRPr lang="en-US" sz="2121" dirty="0"/>
          </a:p>
        </p:txBody>
      </p:sp>
      <p:sp>
        <p:nvSpPr>
          <p:cNvPr id="21" name="Text 18"/>
          <p:cNvSpPr/>
          <p:nvPr/>
        </p:nvSpPr>
        <p:spPr>
          <a:xfrm>
            <a:off x="4682003" y="546497"/>
            <a:ext cx="80152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end-to-end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682003" y="673298"/>
            <a:ext cx="80152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meta: &lt;500ms</a:t>
            </a:r>
            <a:endParaRPr lang="en-US" sz="516" dirty="0"/>
          </a:p>
        </p:txBody>
      </p:sp>
      <p:sp>
        <p:nvSpPr>
          <p:cNvPr id="23" name="Shape 20"/>
          <p:cNvSpPr/>
          <p:nvPr/>
        </p:nvSpPr>
        <p:spPr>
          <a:xfrm>
            <a:off x="4682003" y="782241"/>
            <a:ext cx="801523" cy="214313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2003" y="782241"/>
            <a:ext cx="801523" cy="214313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2.5× mais rápido</a:t>
            </a:r>
            <a:endParaRPr lang="en-US" sz="435" dirty="0"/>
          </a:p>
        </p:txBody>
      </p:sp>
      <p:sp>
        <p:nvSpPr>
          <p:cNvPr id="25" name="Text 22"/>
          <p:cNvSpPr/>
          <p:nvPr/>
        </p:nvSpPr>
        <p:spPr>
          <a:xfrm>
            <a:off x="5690695" y="614363"/>
            <a:ext cx="18038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121" dirty="0"/>
          </a:p>
        </p:txBody>
      </p:sp>
      <p:sp>
        <p:nvSpPr>
          <p:cNvPr id="26" name="Text 23"/>
          <p:cNvSpPr/>
          <p:nvPr/>
        </p:nvSpPr>
        <p:spPr>
          <a:xfrm>
            <a:off x="5971087" y="582216"/>
            <a:ext cx="6000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5971087" y="709017"/>
            <a:ext cx="60007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+ Flask×2</a:t>
            </a:r>
            <a:endParaRPr lang="en-US" sz="516" dirty="0"/>
          </a:p>
        </p:txBody>
      </p:sp>
      <p:sp>
        <p:nvSpPr>
          <p:cNvPr id="28" name="Shape 25"/>
          <p:cNvSpPr/>
          <p:nvPr/>
        </p:nvSpPr>
        <p:spPr>
          <a:xfrm>
            <a:off x="5971087" y="817959"/>
            <a:ext cx="600075" cy="128588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71087" y="817959"/>
            <a:ext cx="600075" cy="12858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integrados</a:t>
            </a:r>
            <a:endParaRPr lang="en-US" sz="435" dirty="0"/>
          </a:p>
        </p:txBody>
      </p:sp>
      <p:sp>
        <p:nvSpPr>
          <p:cNvPr id="30" name="Text 27"/>
          <p:cNvSpPr/>
          <p:nvPr/>
        </p:nvSpPr>
        <p:spPr>
          <a:xfrm>
            <a:off x="7520918" y="614363"/>
            <a:ext cx="36075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2121" dirty="0"/>
          </a:p>
        </p:txBody>
      </p:sp>
      <p:sp>
        <p:nvSpPr>
          <p:cNvPr id="31" name="Text 28"/>
          <p:cNvSpPr/>
          <p:nvPr/>
        </p:nvSpPr>
        <p:spPr>
          <a:xfrm>
            <a:off x="7981690" y="582216"/>
            <a:ext cx="68044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Teste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7981690" y="709017"/>
            <a:ext cx="680442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meta: 5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7981690" y="817959"/>
            <a:ext cx="680442" cy="128588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81690" y="817959"/>
            <a:ext cx="680442" cy="12858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 extras</a:t>
            </a:r>
            <a:endParaRPr lang="en-US" sz="435" dirty="0"/>
          </a:p>
        </p:txBody>
      </p:sp>
      <p:sp>
        <p:nvSpPr>
          <p:cNvPr id="35" name="Text 32"/>
          <p:cNvSpPr/>
          <p:nvPr/>
        </p:nvSpPr>
        <p:spPr>
          <a:xfrm>
            <a:off x="357188" y="1225153"/>
            <a:ext cx="43791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 VS. RESULTADO — COMPARATIVO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357188" y="1405533"/>
            <a:ext cx="1571625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KPI</a:t>
            </a:r>
            <a:endParaRPr lang="en-US" sz="485" dirty="0"/>
          </a:p>
        </p:txBody>
      </p:sp>
      <p:sp>
        <p:nvSpPr>
          <p:cNvPr id="37" name="Text 34"/>
          <p:cNvSpPr/>
          <p:nvPr/>
        </p:nvSpPr>
        <p:spPr>
          <a:xfrm>
            <a:off x="1928813" y="1405533"/>
            <a:ext cx="714375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</a:t>
            </a:r>
            <a:endParaRPr lang="en-US" sz="485" dirty="0"/>
          </a:p>
        </p:txBody>
      </p:sp>
      <p:sp>
        <p:nvSpPr>
          <p:cNvPr id="38" name="Text 35"/>
          <p:cNvSpPr/>
          <p:nvPr/>
        </p:nvSpPr>
        <p:spPr>
          <a:xfrm>
            <a:off x="2643188" y="1405533"/>
            <a:ext cx="714375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DELTA</a:t>
            </a:r>
            <a:endParaRPr lang="en-US" sz="485" dirty="0"/>
          </a:p>
        </p:txBody>
      </p:sp>
      <p:sp>
        <p:nvSpPr>
          <p:cNvPr id="39" name="Text 36"/>
          <p:cNvSpPr/>
          <p:nvPr/>
        </p:nvSpPr>
        <p:spPr>
          <a:xfrm>
            <a:off x="3357563" y="1405533"/>
            <a:ext cx="1378744" cy="158948"/>
          </a:xfrm>
          <a:prstGeom prst="rect">
            <a:avLst/>
          </a:prstGeom>
          <a:noFill/>
          <a:ln/>
        </p:spPr>
        <p:txBody>
          <a:bodyPr wrap="square" lIns="0" tIns="0" rIns="0" bIns="68072" rtlCol="0" anchor="ctr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</a:t>
            </a:r>
            <a:endParaRPr lang="en-US" sz="485" dirty="0"/>
          </a:p>
        </p:txBody>
      </p:sp>
      <p:sp>
        <p:nvSpPr>
          <p:cNvPr id="40" name="Text 37"/>
          <p:cNvSpPr/>
          <p:nvPr/>
        </p:nvSpPr>
        <p:spPr>
          <a:xfrm>
            <a:off x="357188" y="1643063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do Modelo ML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357188" y="1778794"/>
            <a:ext cx="15716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TF-IDF + Naive Bayes · 5-fold CV</a:t>
            </a:r>
            <a:endParaRPr lang="en-US" sz="568" dirty="0"/>
          </a:p>
        </p:txBody>
      </p:sp>
      <p:sp>
        <p:nvSpPr>
          <p:cNvPr id="42" name="Text 39"/>
          <p:cNvSpPr/>
          <p:nvPr/>
        </p:nvSpPr>
        <p:spPr>
          <a:xfrm>
            <a:off x="1928813" y="1687711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90%</a:t>
            </a:r>
            <a:endParaRPr lang="en-US" sz="834" dirty="0"/>
          </a:p>
        </p:txBody>
      </p:sp>
      <p:sp>
        <p:nvSpPr>
          <p:cNvPr id="43" name="Shape 40"/>
          <p:cNvSpPr/>
          <p:nvPr/>
        </p:nvSpPr>
        <p:spPr>
          <a:xfrm>
            <a:off x="2850356" y="1691283"/>
            <a:ext cx="300038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850356" y="1691283"/>
            <a:ext cx="300038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+7pp</a:t>
            </a:r>
            <a:endParaRPr lang="en-US" sz="485" dirty="0"/>
          </a:p>
        </p:txBody>
      </p:sp>
      <p:sp>
        <p:nvSpPr>
          <p:cNvPr id="45" name="Text 42"/>
          <p:cNvSpPr/>
          <p:nvPr/>
        </p:nvSpPr>
        <p:spPr>
          <a:xfrm>
            <a:off x="3357563" y="1668066"/>
            <a:ext cx="13787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97%</a:t>
            </a:r>
            <a:endParaRPr lang="en-US" sz="987" dirty="0"/>
          </a:p>
        </p:txBody>
      </p:sp>
      <p:sp>
        <p:nvSpPr>
          <p:cNvPr id="46" name="Text 43"/>
          <p:cNvSpPr/>
          <p:nvPr/>
        </p:nvSpPr>
        <p:spPr>
          <a:xfrm>
            <a:off x="357188" y="2032397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357188" y="2168128"/>
            <a:ext cx="15716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Vitest · TypeScript · 11 arquivos</a:t>
            </a:r>
            <a:endParaRPr lang="en-US" sz="568" dirty="0"/>
          </a:p>
        </p:txBody>
      </p:sp>
      <p:sp>
        <p:nvSpPr>
          <p:cNvPr id="48" name="Text 45"/>
          <p:cNvSpPr/>
          <p:nvPr/>
        </p:nvSpPr>
        <p:spPr>
          <a:xfrm>
            <a:off x="1928813" y="2077045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</a:t>
            </a:r>
            <a:endParaRPr lang="en-US" sz="834" dirty="0"/>
          </a:p>
        </p:txBody>
      </p:sp>
      <p:sp>
        <p:nvSpPr>
          <p:cNvPr id="49" name="Shape 46"/>
          <p:cNvSpPr/>
          <p:nvPr/>
        </p:nvSpPr>
        <p:spPr>
          <a:xfrm>
            <a:off x="2871788" y="2080617"/>
            <a:ext cx="257175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871788" y="2080617"/>
            <a:ext cx="257175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+47</a:t>
            </a:r>
            <a:endParaRPr lang="en-US" sz="485" dirty="0"/>
          </a:p>
        </p:txBody>
      </p:sp>
      <p:sp>
        <p:nvSpPr>
          <p:cNvPr id="51" name="Text 48"/>
          <p:cNvSpPr/>
          <p:nvPr/>
        </p:nvSpPr>
        <p:spPr>
          <a:xfrm>
            <a:off x="3357563" y="2057400"/>
            <a:ext cx="13787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347</a:t>
            </a:r>
            <a:endParaRPr lang="en-US" sz="987" dirty="0"/>
          </a:p>
        </p:txBody>
      </p:sp>
      <p:sp>
        <p:nvSpPr>
          <p:cNvPr id="52" name="Text 49"/>
          <p:cNvSpPr/>
          <p:nvPr/>
        </p:nvSpPr>
        <p:spPr>
          <a:xfrm>
            <a:off x="357188" y="2421731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Latência de Classificação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357188" y="2557463"/>
            <a:ext cx="15716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→ ML → Banco → UI</a:t>
            </a:r>
            <a:endParaRPr lang="en-US" sz="568" dirty="0"/>
          </a:p>
        </p:txBody>
      </p:sp>
      <p:sp>
        <p:nvSpPr>
          <p:cNvPr id="54" name="Text 51"/>
          <p:cNvSpPr/>
          <p:nvPr/>
        </p:nvSpPr>
        <p:spPr>
          <a:xfrm>
            <a:off x="1928813" y="246816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&lt;500ms</a:t>
            </a:r>
            <a:endParaRPr lang="en-US" sz="834" dirty="0"/>
          </a:p>
        </p:txBody>
      </p:sp>
      <p:sp>
        <p:nvSpPr>
          <p:cNvPr id="55" name="Shape 52"/>
          <p:cNvSpPr/>
          <p:nvPr/>
        </p:nvSpPr>
        <p:spPr>
          <a:xfrm>
            <a:off x="2850356" y="2471738"/>
            <a:ext cx="300038" cy="151805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850356" y="2471738"/>
            <a:ext cx="300038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2.5×</a:t>
            </a:r>
            <a:endParaRPr lang="en-US" sz="485" dirty="0"/>
          </a:p>
        </p:txBody>
      </p:sp>
      <p:sp>
        <p:nvSpPr>
          <p:cNvPr id="57" name="Text 54"/>
          <p:cNvSpPr/>
          <p:nvPr/>
        </p:nvSpPr>
        <p:spPr>
          <a:xfrm>
            <a:off x="3357563" y="2448520"/>
            <a:ext cx="13787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&lt;200ms</a:t>
            </a:r>
            <a:endParaRPr lang="en-US" sz="987" dirty="0"/>
          </a:p>
        </p:txBody>
      </p:sp>
      <p:sp>
        <p:nvSpPr>
          <p:cNvPr id="58" name="Text 55"/>
          <p:cNvSpPr/>
          <p:nvPr/>
        </p:nvSpPr>
        <p:spPr>
          <a:xfrm>
            <a:off x="357188" y="2814638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 Entregues</a:t>
            </a:r>
            <a:endParaRPr lang="en-US" sz="683" dirty="0"/>
          </a:p>
        </p:txBody>
      </p:sp>
      <p:sp>
        <p:nvSpPr>
          <p:cNvPr id="59" name="Text 56"/>
          <p:cNvSpPr/>
          <p:nvPr/>
        </p:nvSpPr>
        <p:spPr>
          <a:xfrm>
            <a:off x="357188" y="2950369"/>
            <a:ext cx="15716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Usuário + Admin + ML + Histórico</a:t>
            </a:r>
            <a:endParaRPr lang="en-US" sz="568" dirty="0"/>
          </a:p>
        </p:txBody>
      </p:sp>
      <p:sp>
        <p:nvSpPr>
          <p:cNvPr id="60" name="Text 57"/>
          <p:cNvSpPr/>
          <p:nvPr/>
        </p:nvSpPr>
        <p:spPr>
          <a:xfrm>
            <a:off x="1928813" y="285928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834" dirty="0"/>
          </a:p>
        </p:txBody>
      </p:sp>
      <p:sp>
        <p:nvSpPr>
          <p:cNvPr id="61" name="Shape 58"/>
          <p:cNvSpPr/>
          <p:nvPr/>
        </p:nvSpPr>
        <p:spPr>
          <a:xfrm>
            <a:off x="2871788" y="2862858"/>
            <a:ext cx="257175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871788" y="2862858"/>
            <a:ext cx="257175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+12</a:t>
            </a:r>
            <a:endParaRPr lang="en-US" sz="485" dirty="0"/>
          </a:p>
        </p:txBody>
      </p:sp>
      <p:sp>
        <p:nvSpPr>
          <p:cNvPr id="63" name="Text 60"/>
          <p:cNvSpPr/>
          <p:nvPr/>
        </p:nvSpPr>
        <p:spPr>
          <a:xfrm>
            <a:off x="3357563" y="2839641"/>
            <a:ext cx="13787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87" dirty="0"/>
          </a:p>
        </p:txBody>
      </p:sp>
      <p:sp>
        <p:nvSpPr>
          <p:cNvPr id="64" name="Text 61"/>
          <p:cNvSpPr/>
          <p:nvPr/>
        </p:nvSpPr>
        <p:spPr>
          <a:xfrm>
            <a:off x="357188" y="3203972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Sessões de Entrega</a:t>
            </a:r>
            <a:endParaRPr lang="en-US" sz="683" dirty="0"/>
          </a:p>
        </p:txBody>
      </p:sp>
      <p:sp>
        <p:nvSpPr>
          <p:cNvPr id="65" name="Text 62"/>
          <p:cNvSpPr/>
          <p:nvPr/>
        </p:nvSpPr>
        <p:spPr>
          <a:xfrm>
            <a:off x="357188" y="3339703"/>
            <a:ext cx="15716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Incrementos semanais com testes</a:t>
            </a:r>
            <a:endParaRPr lang="en-US" sz="568" dirty="0"/>
          </a:p>
        </p:txBody>
      </p:sp>
      <p:sp>
        <p:nvSpPr>
          <p:cNvPr id="66" name="Text 63"/>
          <p:cNvSpPr/>
          <p:nvPr/>
        </p:nvSpPr>
        <p:spPr>
          <a:xfrm>
            <a:off x="1928813" y="3248620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834" dirty="0"/>
          </a:p>
        </p:txBody>
      </p:sp>
      <p:sp>
        <p:nvSpPr>
          <p:cNvPr id="67" name="Shape 64"/>
          <p:cNvSpPr/>
          <p:nvPr/>
        </p:nvSpPr>
        <p:spPr>
          <a:xfrm>
            <a:off x="2893219" y="3252192"/>
            <a:ext cx="214313" cy="151805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893219" y="3252192"/>
            <a:ext cx="214313" cy="151805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</a:t>
            </a:r>
            <a:endParaRPr lang="en-US" sz="485" dirty="0"/>
          </a:p>
        </p:txBody>
      </p:sp>
      <p:sp>
        <p:nvSpPr>
          <p:cNvPr id="69" name="Text 66"/>
          <p:cNvSpPr/>
          <p:nvPr/>
        </p:nvSpPr>
        <p:spPr>
          <a:xfrm>
            <a:off x="3357563" y="3228975"/>
            <a:ext cx="13787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87" dirty="0"/>
          </a:p>
        </p:txBody>
      </p:sp>
      <p:sp>
        <p:nvSpPr>
          <p:cNvPr id="70" name="Shape 67"/>
          <p:cNvSpPr/>
          <p:nvPr/>
        </p:nvSpPr>
        <p:spPr>
          <a:xfrm>
            <a:off x="5229225" y="1225153"/>
            <a:ext cx="3629025" cy="1437568"/>
          </a:xfrm>
          <a:prstGeom prst="rect">
            <a:avLst/>
          </a:prstGeom>
          <a:solidFill>
            <a:srgbClr val="3FB950">
              <a:alpha val="6000"/>
            </a:srgbClr>
          </a:solidFill>
          <a:ln w="9144">
            <a:solidFill>
              <a:srgbClr val="3FB950">
                <a:alpha val="2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343525" y="1325166"/>
            <a:ext cx="34004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ALÉM DAS METAS</a:t>
            </a:r>
            <a:endParaRPr lang="en-US" sz="516" dirty="0"/>
          </a:p>
        </p:txBody>
      </p:sp>
      <p:sp>
        <p:nvSpPr>
          <p:cNvPr id="72" name="Text 69"/>
          <p:cNvSpPr/>
          <p:nvPr/>
        </p:nvSpPr>
        <p:spPr>
          <a:xfrm>
            <a:off x="5443538" y="1534120"/>
            <a:ext cx="30003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alterações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tabela incident_history com auditoria completa</a:t>
            </a:r>
            <a:endParaRPr lang="en-US" sz="584" dirty="0"/>
          </a:p>
        </p:txBody>
      </p:sp>
      <p:sp>
        <p:nvSpPr>
          <p:cNvPr id="73" name="Text 70"/>
          <p:cNvSpPr/>
          <p:nvPr/>
        </p:nvSpPr>
        <p:spPr>
          <a:xfrm>
            <a:off x="5443538" y="1746982"/>
            <a:ext cx="251281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de texto completo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destaque visual nos resultados</a:t>
            </a:r>
            <a:endParaRPr lang="en-US" sz="584" dirty="0"/>
          </a:p>
        </p:txBody>
      </p:sp>
      <p:sp>
        <p:nvSpPr>
          <p:cNvPr id="74" name="Text 71"/>
          <p:cNvSpPr/>
          <p:nvPr/>
        </p:nvSpPr>
        <p:spPr>
          <a:xfrm>
            <a:off x="5443538" y="1959843"/>
            <a:ext cx="225206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Retreinamento dinâmico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dados reais de produção</a:t>
            </a:r>
            <a:endParaRPr lang="en-US" sz="584" dirty="0"/>
          </a:p>
        </p:txBody>
      </p:sp>
      <p:sp>
        <p:nvSpPr>
          <p:cNvPr id="75" name="Text 72"/>
          <p:cNvSpPr/>
          <p:nvPr/>
        </p:nvSpPr>
        <p:spPr>
          <a:xfrm>
            <a:off x="5443538" y="2172705"/>
            <a:ext cx="242351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nativo Node.js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fallback sem dependência de Python</a:t>
            </a:r>
            <a:endParaRPr lang="en-US" sz="584" dirty="0"/>
          </a:p>
        </p:txBody>
      </p:sp>
      <p:sp>
        <p:nvSpPr>
          <p:cNvPr id="76" name="Text 73"/>
          <p:cNvSpPr/>
          <p:nvPr/>
        </p:nvSpPr>
        <p:spPr>
          <a:xfrm>
            <a:off x="5443538" y="2385566"/>
            <a:ext cx="271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de usuários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reset de senha e RBAC completo</a:t>
            </a:r>
            <a:endParaRPr lang="en-US" sz="584" dirty="0"/>
          </a:p>
        </p:txBody>
      </p:sp>
      <p:sp>
        <p:nvSpPr>
          <p:cNvPr id="77" name="Shape 74"/>
          <p:cNvSpPr/>
          <p:nvPr/>
        </p:nvSpPr>
        <p:spPr>
          <a:xfrm>
            <a:off x="5229225" y="2748446"/>
            <a:ext cx="3629025" cy="118050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8" name="Text 75"/>
          <p:cNvSpPr/>
          <p:nvPr/>
        </p:nvSpPr>
        <p:spPr>
          <a:xfrm>
            <a:off x="5343525" y="2848459"/>
            <a:ext cx="34004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INDICADORES DE QUALIDADE</a:t>
            </a:r>
            <a:endParaRPr lang="en-US" sz="516" dirty="0"/>
          </a:p>
        </p:txBody>
      </p:sp>
      <p:sp>
        <p:nvSpPr>
          <p:cNvPr id="79" name="Text 76"/>
          <p:cNvSpPr/>
          <p:nvPr/>
        </p:nvSpPr>
        <p:spPr>
          <a:xfrm>
            <a:off x="5343525" y="3057413"/>
            <a:ext cx="103584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rate dos testes</a:t>
            </a:r>
            <a:endParaRPr lang="en-US" sz="621" dirty="0"/>
          </a:p>
        </p:txBody>
      </p:sp>
      <p:sp>
        <p:nvSpPr>
          <p:cNvPr id="80" name="Text 77"/>
          <p:cNvSpPr/>
          <p:nvPr/>
        </p:nvSpPr>
        <p:spPr>
          <a:xfrm>
            <a:off x="8018859" y="3057413"/>
            <a:ext cx="7250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 (347/347)</a:t>
            </a:r>
            <a:endParaRPr lang="en-US" sz="584" dirty="0"/>
          </a:p>
        </p:txBody>
      </p:sp>
      <p:sp>
        <p:nvSpPr>
          <p:cNvPr id="81" name="Text 78"/>
          <p:cNvSpPr/>
          <p:nvPr/>
        </p:nvSpPr>
        <p:spPr>
          <a:xfrm>
            <a:off x="5343525" y="3262796"/>
            <a:ext cx="8286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Erros TypeScript</a:t>
            </a:r>
            <a:endParaRPr lang="en-US" sz="621" dirty="0"/>
          </a:p>
        </p:txBody>
      </p:sp>
      <p:sp>
        <p:nvSpPr>
          <p:cNvPr id="82" name="Text 79"/>
          <p:cNvSpPr/>
          <p:nvPr/>
        </p:nvSpPr>
        <p:spPr>
          <a:xfrm>
            <a:off x="8174236" y="3262796"/>
            <a:ext cx="5697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(npx tsc)</a:t>
            </a:r>
            <a:endParaRPr lang="en-US" sz="584" dirty="0"/>
          </a:p>
        </p:txBody>
      </p:sp>
      <p:sp>
        <p:nvSpPr>
          <p:cNvPr id="83" name="Text 80"/>
          <p:cNvSpPr/>
          <p:nvPr/>
        </p:nvSpPr>
        <p:spPr>
          <a:xfrm>
            <a:off x="5343525" y="3468179"/>
            <a:ext cx="88046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Commits no GitHub</a:t>
            </a:r>
            <a:endParaRPr lang="en-US" sz="621" dirty="0"/>
          </a:p>
        </p:txBody>
      </p:sp>
      <p:sp>
        <p:nvSpPr>
          <p:cNvPr id="84" name="Text 81"/>
          <p:cNvSpPr/>
          <p:nvPr/>
        </p:nvSpPr>
        <p:spPr>
          <a:xfrm>
            <a:off x="7190184" y="3468179"/>
            <a:ext cx="15537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sessões · histórico completo</a:t>
            </a:r>
            <a:endParaRPr lang="en-US" sz="584" dirty="0"/>
          </a:p>
        </p:txBody>
      </p:sp>
      <p:sp>
        <p:nvSpPr>
          <p:cNvPr id="85" name="Text 82"/>
          <p:cNvSpPr/>
          <p:nvPr/>
        </p:nvSpPr>
        <p:spPr>
          <a:xfrm>
            <a:off x="5343525" y="3673562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Documentação</a:t>
            </a:r>
            <a:endParaRPr lang="en-US" sz="621" dirty="0"/>
          </a:p>
        </p:txBody>
      </p:sp>
      <p:sp>
        <p:nvSpPr>
          <p:cNvPr id="86" name="Text 83"/>
          <p:cNvSpPr/>
          <p:nvPr/>
        </p:nvSpPr>
        <p:spPr>
          <a:xfrm>
            <a:off x="7604522" y="3673562"/>
            <a:ext cx="11394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 + 2 manuais PDF</a:t>
            </a:r>
            <a:endParaRPr lang="en-US" sz="584" dirty="0"/>
          </a:p>
        </p:txBody>
      </p:sp>
      <p:sp>
        <p:nvSpPr>
          <p:cNvPr id="87" name="Shape 84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9" name="Text 86"/>
          <p:cNvSpPr/>
          <p:nvPr/>
        </p:nvSpPr>
        <p:spPr>
          <a:xfrm>
            <a:off x="214313" y="4962227"/>
            <a:ext cx="18002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Resultados e Métricas</a:t>
            </a:r>
            <a:endParaRPr lang="en-US" sz="516" dirty="0"/>
          </a:p>
        </p:txBody>
      </p:sp>
      <p:sp>
        <p:nvSpPr>
          <p:cNvPr id="90" name="Text 87"/>
          <p:cNvSpPr/>
          <p:nvPr/>
        </p:nvSpPr>
        <p:spPr>
          <a:xfrm>
            <a:off x="7220545" y="4961334"/>
            <a:ext cx="149483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r>
              <a:rPr lang="en-US" sz="534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Tech Lead</a:t>
            </a:r>
            <a:endParaRPr lang="en-US" sz="5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12358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Divisão do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57188" y="617934"/>
            <a:ext cx="20216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2126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16" dirty="0"/>
          </a:p>
        </p:txBody>
      </p:sp>
      <p:sp>
        <p:nvSpPr>
          <p:cNvPr id="9" name="Text 6"/>
          <p:cNvSpPr/>
          <p:nvPr/>
        </p:nvSpPr>
        <p:spPr>
          <a:xfrm>
            <a:off x="357188" y="932259"/>
            <a:ext cx="2021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57188" y="1132284"/>
            <a:ext cx="1243013" cy="166092"/>
          </a:xfrm>
          <a:prstGeom prst="rect">
            <a:avLst/>
          </a:prstGeom>
          <a:solidFill>
            <a:srgbClr val="00B4D8">
              <a:alpha val="12000"/>
            </a:srgbClr>
          </a:solidFill>
          <a:ln w="9144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7188" y="1132284"/>
            <a:ext cx="1243013" cy="16609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LEAD · BACKEND</a:t>
            </a:r>
            <a:endParaRPr lang="en-US" sz="485" dirty="0"/>
          </a:p>
        </p:txBody>
      </p:sp>
      <p:sp>
        <p:nvSpPr>
          <p:cNvPr id="12" name="Shape 9"/>
          <p:cNvSpPr/>
          <p:nvPr/>
        </p:nvSpPr>
        <p:spPr>
          <a:xfrm>
            <a:off x="357188" y="1476970"/>
            <a:ext cx="414338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7188" y="1476970"/>
            <a:ext cx="414338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</a:t>
            </a:r>
            <a:endParaRPr lang="en-US" sz="516" dirty="0"/>
          </a:p>
        </p:txBody>
      </p:sp>
      <p:sp>
        <p:nvSpPr>
          <p:cNvPr id="14" name="Shape 11"/>
          <p:cNvSpPr/>
          <p:nvPr/>
        </p:nvSpPr>
        <p:spPr>
          <a:xfrm>
            <a:off x="792956" y="1476970"/>
            <a:ext cx="285750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1476970"/>
            <a:ext cx="285750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</a:t>
            </a:r>
            <a:endParaRPr lang="en-US" sz="516" dirty="0"/>
          </a:p>
        </p:txBody>
      </p:sp>
      <p:sp>
        <p:nvSpPr>
          <p:cNvPr id="16" name="Shape 13"/>
          <p:cNvSpPr/>
          <p:nvPr/>
        </p:nvSpPr>
        <p:spPr>
          <a:xfrm>
            <a:off x="1100138" y="1476970"/>
            <a:ext cx="414338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00138" y="1476970"/>
            <a:ext cx="414338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Drizzle</a:t>
            </a:r>
            <a:endParaRPr lang="en-US" sz="516" dirty="0"/>
          </a:p>
        </p:txBody>
      </p:sp>
      <p:sp>
        <p:nvSpPr>
          <p:cNvPr id="18" name="Shape 15"/>
          <p:cNvSpPr/>
          <p:nvPr/>
        </p:nvSpPr>
        <p:spPr>
          <a:xfrm>
            <a:off x="1535906" y="1476970"/>
            <a:ext cx="285750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35906" y="1476970"/>
            <a:ext cx="285750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TiDB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450056" y="1700213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geral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sistema e decisões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50056" y="1975917"/>
            <a:ext cx="19109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Procedures tRPC,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Drizzle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migrações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50056" y="2131628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adminProcedure, protectedProcedure,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IDOR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50056" y="2407332"/>
            <a:ext cx="178236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de usuários,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 de senha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50056" y="2563044"/>
            <a:ext cx="190023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Coordenação de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e revisão de código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2493169" y="617934"/>
            <a:ext cx="20216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2126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16" dirty="0"/>
          </a:p>
        </p:txBody>
      </p:sp>
      <p:sp>
        <p:nvSpPr>
          <p:cNvPr id="26" name="Text 23"/>
          <p:cNvSpPr/>
          <p:nvPr/>
        </p:nvSpPr>
        <p:spPr>
          <a:xfrm>
            <a:off x="2493169" y="932259"/>
            <a:ext cx="2021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Nattan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2493169" y="1132284"/>
            <a:ext cx="1585913" cy="166092"/>
          </a:xfrm>
          <a:prstGeom prst="rect">
            <a:avLst/>
          </a:prstGeom>
          <a:solidFill>
            <a:srgbClr val="FF8A00">
              <a:alpha val="12000"/>
            </a:srgbClr>
          </a:solidFill>
          <a:ln w="9144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93169" y="1132284"/>
            <a:ext cx="1585913" cy="16609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BANCO DE DADOS</a:t>
            </a:r>
            <a:endParaRPr lang="en-US" sz="485" dirty="0"/>
          </a:p>
        </p:txBody>
      </p:sp>
      <p:sp>
        <p:nvSpPr>
          <p:cNvPr id="29" name="Shape 26"/>
          <p:cNvSpPr/>
          <p:nvPr/>
        </p:nvSpPr>
        <p:spPr>
          <a:xfrm>
            <a:off x="2493169" y="1476970"/>
            <a:ext cx="457200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93169" y="1476970"/>
            <a:ext cx="457200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19</a:t>
            </a:r>
            <a:endParaRPr lang="en-US" sz="516" dirty="0"/>
          </a:p>
        </p:txBody>
      </p:sp>
      <p:sp>
        <p:nvSpPr>
          <p:cNvPr id="31" name="Shape 28"/>
          <p:cNvSpPr/>
          <p:nvPr/>
        </p:nvSpPr>
        <p:spPr>
          <a:xfrm>
            <a:off x="2971800" y="1476970"/>
            <a:ext cx="542925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71800" y="1476970"/>
            <a:ext cx="542925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Tailwind 4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3536156" y="1476970"/>
            <a:ext cx="500063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36156" y="1476970"/>
            <a:ext cx="500063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shadcn/ui</a:t>
            </a:r>
            <a:endParaRPr lang="en-US" sz="516" dirty="0"/>
          </a:p>
        </p:txBody>
      </p:sp>
      <p:sp>
        <p:nvSpPr>
          <p:cNvPr id="35" name="Shape 32"/>
          <p:cNvSpPr/>
          <p:nvPr/>
        </p:nvSpPr>
        <p:spPr>
          <a:xfrm>
            <a:off x="4057650" y="1476970"/>
            <a:ext cx="328613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57650" y="1476970"/>
            <a:ext cx="328613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2586038" y="1700213"/>
            <a:ext cx="18002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KPIs, gráficos e estatísticas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2586038" y="1855924"/>
            <a:ext cx="1921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Listagem com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avançados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 dimensões)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2586038" y="2011635"/>
            <a:ext cx="18859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do banco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tabelas, enums, relações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2586038" y="2167347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BOM UTF-8 e labels PT-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2586038" y="2443051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de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do usuário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estatísticas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4629150" y="617934"/>
            <a:ext cx="20216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2126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16" dirty="0"/>
          </a:p>
        </p:txBody>
      </p:sp>
      <p:sp>
        <p:nvSpPr>
          <p:cNvPr id="43" name="Text 40"/>
          <p:cNvSpPr/>
          <p:nvPr/>
        </p:nvSpPr>
        <p:spPr>
          <a:xfrm>
            <a:off x="4629150" y="932259"/>
            <a:ext cx="2021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Keven</a:t>
            </a:r>
            <a:endParaRPr lang="en-US" sz="885" dirty="0"/>
          </a:p>
        </p:txBody>
      </p:sp>
      <p:sp>
        <p:nvSpPr>
          <p:cNvPr id="44" name="Shape 41"/>
          <p:cNvSpPr/>
          <p:nvPr/>
        </p:nvSpPr>
        <p:spPr>
          <a:xfrm>
            <a:off x="4629150" y="1132284"/>
            <a:ext cx="1528763" cy="166092"/>
          </a:xfrm>
          <a:prstGeom prst="rect">
            <a:avLst/>
          </a:prstGeom>
          <a:solidFill>
            <a:srgbClr val="D2A8FF">
              <a:alpha val="12000"/>
            </a:srgbClr>
          </a:solidFill>
          <a:ln w="9144">
            <a:solidFill>
              <a:srgbClr val="D2A8FF">
                <a:alpha val="3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29150" y="1132284"/>
            <a:ext cx="1528763" cy="16609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· INTEGRAÇÃO ML</a:t>
            </a:r>
            <a:endParaRPr lang="en-US" sz="485" dirty="0"/>
          </a:p>
        </p:txBody>
      </p:sp>
      <p:sp>
        <p:nvSpPr>
          <p:cNvPr id="46" name="Shape 43"/>
          <p:cNvSpPr/>
          <p:nvPr/>
        </p:nvSpPr>
        <p:spPr>
          <a:xfrm>
            <a:off x="4629150" y="1476970"/>
            <a:ext cx="328613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29150" y="1476970"/>
            <a:ext cx="328613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516" dirty="0"/>
          </a:p>
        </p:txBody>
      </p:sp>
      <p:sp>
        <p:nvSpPr>
          <p:cNvPr id="48" name="Shape 45"/>
          <p:cNvSpPr/>
          <p:nvPr/>
        </p:nvSpPr>
        <p:spPr>
          <a:xfrm>
            <a:off x="4979194" y="1476970"/>
            <a:ext cx="242888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79194" y="1476970"/>
            <a:ext cx="242888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Zod</a:t>
            </a:r>
            <a:endParaRPr lang="en-US" sz="516" dirty="0"/>
          </a:p>
        </p:txBody>
      </p:sp>
      <p:sp>
        <p:nvSpPr>
          <p:cNvPr id="50" name="Shape 47"/>
          <p:cNvSpPr/>
          <p:nvPr/>
        </p:nvSpPr>
        <p:spPr>
          <a:xfrm>
            <a:off x="5243513" y="1476970"/>
            <a:ext cx="371475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243513" y="1476970"/>
            <a:ext cx="371475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PDFKit</a:t>
            </a:r>
            <a:endParaRPr lang="en-US" sz="516" dirty="0"/>
          </a:p>
        </p:txBody>
      </p:sp>
      <p:sp>
        <p:nvSpPr>
          <p:cNvPr id="52" name="Shape 49"/>
          <p:cNvSpPr/>
          <p:nvPr/>
        </p:nvSpPr>
        <p:spPr>
          <a:xfrm>
            <a:off x="5636419" y="1476970"/>
            <a:ext cx="285750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36419" y="1476970"/>
            <a:ext cx="285750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tRPC</a:t>
            </a:r>
            <a:endParaRPr lang="en-US" sz="516" dirty="0"/>
          </a:p>
        </p:txBody>
      </p:sp>
      <p:sp>
        <p:nvSpPr>
          <p:cNvPr id="54" name="Text 51"/>
          <p:cNvSpPr/>
          <p:nvPr/>
        </p:nvSpPr>
        <p:spPr>
          <a:xfrm>
            <a:off x="4722019" y="1700213"/>
            <a:ext cx="178415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 de incidente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validação Zod</a:t>
            </a:r>
            <a:endParaRPr lang="en-US" sz="584" dirty="0"/>
          </a:p>
        </p:txBody>
      </p:sp>
      <p:sp>
        <p:nvSpPr>
          <p:cNvPr id="55" name="Text 52"/>
          <p:cNvSpPr/>
          <p:nvPr/>
        </p:nvSpPr>
        <p:spPr>
          <a:xfrm>
            <a:off x="4722019" y="1855924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frontend ↔ Flask ML —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de confiança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4722019" y="2131628"/>
            <a:ext cx="18930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de texto completo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destaque visual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4722019" y="2287339"/>
            <a:ext cx="184130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nativa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(PDFKit) com fallback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4722019" y="2443051"/>
            <a:ext cx="181629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alterações —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dinâmica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6765131" y="617934"/>
            <a:ext cx="20216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2126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16" dirty="0"/>
          </a:p>
        </p:txBody>
      </p:sp>
      <p:sp>
        <p:nvSpPr>
          <p:cNvPr id="60" name="Text 57"/>
          <p:cNvSpPr/>
          <p:nvPr/>
        </p:nvSpPr>
        <p:spPr>
          <a:xfrm>
            <a:off x="6765131" y="932259"/>
            <a:ext cx="2021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Josias</a:t>
            </a:r>
            <a:endParaRPr lang="en-US" sz="885" dirty="0"/>
          </a:p>
        </p:txBody>
      </p:sp>
      <p:sp>
        <p:nvSpPr>
          <p:cNvPr id="61" name="Shape 58"/>
          <p:cNvSpPr/>
          <p:nvPr/>
        </p:nvSpPr>
        <p:spPr>
          <a:xfrm>
            <a:off x="6765131" y="1132284"/>
            <a:ext cx="785813" cy="166092"/>
          </a:xfrm>
          <a:prstGeom prst="rect">
            <a:avLst/>
          </a:prstGeom>
          <a:solidFill>
            <a:srgbClr val="3FB950">
              <a:alpha val="12000"/>
            </a:srgbClr>
          </a:solidFill>
          <a:ln w="9144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765131" y="1132284"/>
            <a:ext cx="785813" cy="16609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ENGINEER</a:t>
            </a:r>
            <a:endParaRPr lang="en-US" sz="485" dirty="0"/>
          </a:p>
        </p:txBody>
      </p:sp>
      <p:sp>
        <p:nvSpPr>
          <p:cNvPr id="63" name="Shape 60"/>
          <p:cNvSpPr/>
          <p:nvPr/>
        </p:nvSpPr>
        <p:spPr>
          <a:xfrm>
            <a:off x="6765131" y="1476970"/>
            <a:ext cx="371475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65131" y="1476970"/>
            <a:ext cx="371475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</a:t>
            </a:r>
            <a:endParaRPr lang="en-US" sz="516" dirty="0"/>
          </a:p>
        </p:txBody>
      </p:sp>
      <p:sp>
        <p:nvSpPr>
          <p:cNvPr id="65" name="Shape 62"/>
          <p:cNvSpPr/>
          <p:nvPr/>
        </p:nvSpPr>
        <p:spPr>
          <a:xfrm>
            <a:off x="7158038" y="1476970"/>
            <a:ext cx="328613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158038" y="1476970"/>
            <a:ext cx="328613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</a:t>
            </a:r>
            <a:endParaRPr lang="en-US" sz="516" dirty="0"/>
          </a:p>
        </p:txBody>
      </p:sp>
      <p:sp>
        <p:nvSpPr>
          <p:cNvPr id="67" name="Shape 64"/>
          <p:cNvSpPr/>
          <p:nvPr/>
        </p:nvSpPr>
        <p:spPr>
          <a:xfrm>
            <a:off x="7508081" y="1476970"/>
            <a:ext cx="628650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508081" y="1476970"/>
            <a:ext cx="628650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scikit-learn</a:t>
            </a:r>
            <a:endParaRPr lang="en-US" sz="516" dirty="0"/>
          </a:p>
        </p:txBody>
      </p:sp>
      <p:sp>
        <p:nvSpPr>
          <p:cNvPr id="69" name="Shape 66"/>
          <p:cNvSpPr/>
          <p:nvPr/>
        </p:nvSpPr>
        <p:spPr>
          <a:xfrm>
            <a:off x="8158163" y="1476970"/>
            <a:ext cx="371475" cy="151805"/>
          </a:xfrm>
          <a:prstGeom prst="rect">
            <a:avLst/>
          </a:prstGeom>
          <a:solidFill>
            <a:srgbClr val="161B22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158163" y="1476970"/>
            <a:ext cx="371475" cy="151805"/>
          </a:xfrm>
          <a:prstGeom prst="rect">
            <a:avLst/>
          </a:prstGeom>
          <a:noFill/>
          <a:ln/>
        </p:spPr>
        <p:txBody>
          <a:bodyPr wrap="square" lIns="59563" tIns="25527" rIns="59563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</a:t>
            </a:r>
            <a:endParaRPr lang="en-US" sz="516" dirty="0"/>
          </a:p>
        </p:txBody>
      </p:sp>
      <p:sp>
        <p:nvSpPr>
          <p:cNvPr id="71" name="Text 68"/>
          <p:cNvSpPr/>
          <p:nvPr/>
        </p:nvSpPr>
        <p:spPr>
          <a:xfrm>
            <a:off x="6858000" y="1700213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TF-IDF + Naive Bayes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treinamento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</a:t>
            </a:r>
            <a:endParaRPr lang="en-US" sz="584" dirty="0"/>
          </a:p>
        </p:txBody>
      </p:sp>
      <p:sp>
        <p:nvSpPr>
          <p:cNvPr id="72" name="Text 69"/>
          <p:cNvSpPr/>
          <p:nvPr/>
        </p:nvSpPr>
        <p:spPr>
          <a:xfrm>
            <a:off x="6858000" y="1975917"/>
            <a:ext cx="174128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de 100 incidentes em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categorias</a:t>
            </a:r>
            <a:endParaRPr lang="en-US" sz="621" dirty="0"/>
          </a:p>
        </p:txBody>
      </p:sp>
      <p:sp>
        <p:nvSpPr>
          <p:cNvPr id="73" name="Text 70"/>
          <p:cNvSpPr/>
          <p:nvPr/>
        </p:nvSpPr>
        <p:spPr>
          <a:xfrm>
            <a:off x="6858000" y="2131628"/>
            <a:ext cx="188416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Flask :5001 —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retrain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endpoints</a:t>
            </a:r>
            <a:endParaRPr lang="en-US" sz="621" dirty="0"/>
          </a:p>
        </p:txBody>
      </p:sp>
      <p:sp>
        <p:nvSpPr>
          <p:cNvPr id="74" name="Text 71"/>
          <p:cNvSpPr/>
          <p:nvPr/>
        </p:nvSpPr>
        <p:spPr>
          <a:xfrm>
            <a:off x="6858000" y="2287339"/>
            <a:ext cx="19288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Retreinamento dinâmico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incidentes do 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</a:t>
            </a:r>
            <a:endParaRPr lang="en-US" sz="584" dirty="0"/>
          </a:p>
        </p:txBody>
      </p:sp>
      <p:sp>
        <p:nvSpPr>
          <p:cNvPr id="75" name="Text 72"/>
          <p:cNvSpPr/>
          <p:nvPr/>
        </p:nvSpPr>
        <p:spPr>
          <a:xfrm>
            <a:off x="6858000" y="2563044"/>
            <a:ext cx="182344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Métricas: acurácia, precisão, recall, </a:t>
            </a: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621" dirty="0"/>
          </a:p>
        </p:txBody>
      </p:sp>
      <p:sp>
        <p:nvSpPr>
          <p:cNvPr id="76" name="Shape 73"/>
          <p:cNvSpPr/>
          <p:nvPr/>
        </p:nvSpPr>
        <p:spPr>
          <a:xfrm>
            <a:off x="0" y="4346972"/>
            <a:ext cx="9144000" cy="5214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7" name="Shape 74"/>
          <p:cNvSpPr/>
          <p:nvPr/>
        </p:nvSpPr>
        <p:spPr>
          <a:xfrm>
            <a:off x="0" y="4346972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8" name="Text 75"/>
          <p:cNvSpPr/>
          <p:nvPr/>
        </p:nvSpPr>
        <p:spPr>
          <a:xfrm>
            <a:off x="357188" y="4563963"/>
            <a:ext cx="9286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METODOLOGIA</a:t>
            </a:r>
            <a:endParaRPr lang="en-US" sz="516" dirty="0"/>
          </a:p>
        </p:txBody>
      </p:sp>
      <p:sp>
        <p:nvSpPr>
          <p:cNvPr id="79" name="Text 76"/>
          <p:cNvSpPr/>
          <p:nvPr/>
        </p:nvSpPr>
        <p:spPr>
          <a:xfrm>
            <a:off x="1585913" y="4454128"/>
            <a:ext cx="4000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SESSÃO 1</a:t>
            </a:r>
            <a:endParaRPr lang="en-US" sz="516" dirty="0"/>
          </a:p>
        </p:txBody>
      </p:sp>
      <p:sp>
        <p:nvSpPr>
          <p:cNvPr id="80" name="Shape 77"/>
          <p:cNvSpPr/>
          <p:nvPr/>
        </p:nvSpPr>
        <p:spPr>
          <a:xfrm>
            <a:off x="1307306" y="4577358"/>
            <a:ext cx="957263" cy="191095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07306" y="4577358"/>
            <a:ext cx="957263" cy="19109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Scaffolding + Auth</a:t>
            </a:r>
            <a:endParaRPr lang="en-US" sz="584" dirty="0"/>
          </a:p>
        </p:txBody>
      </p:sp>
      <p:sp>
        <p:nvSpPr>
          <p:cNvPr id="82" name="Text 79"/>
          <p:cNvSpPr/>
          <p:nvPr/>
        </p:nvSpPr>
        <p:spPr>
          <a:xfrm>
            <a:off x="2286000" y="4579144"/>
            <a:ext cx="145749" cy="135731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83" name="Text 80"/>
          <p:cNvSpPr/>
          <p:nvPr/>
        </p:nvSpPr>
        <p:spPr>
          <a:xfrm>
            <a:off x="2731787" y="4454128"/>
            <a:ext cx="4000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SESSÃO 2</a:t>
            </a:r>
            <a:endParaRPr lang="en-US" sz="516" dirty="0"/>
          </a:p>
        </p:txBody>
      </p:sp>
      <p:sp>
        <p:nvSpPr>
          <p:cNvPr id="84" name="Shape 81"/>
          <p:cNvSpPr/>
          <p:nvPr/>
        </p:nvSpPr>
        <p:spPr>
          <a:xfrm>
            <a:off x="2510330" y="4577358"/>
            <a:ext cx="842963" cy="191095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510330" y="4577358"/>
            <a:ext cx="842963" cy="19109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 + ML</a:t>
            </a:r>
            <a:endParaRPr lang="en-US" sz="584" dirty="0"/>
          </a:p>
        </p:txBody>
      </p:sp>
      <p:sp>
        <p:nvSpPr>
          <p:cNvPr id="86" name="Text 83"/>
          <p:cNvSpPr/>
          <p:nvPr/>
        </p:nvSpPr>
        <p:spPr>
          <a:xfrm>
            <a:off x="3431874" y="4579144"/>
            <a:ext cx="145749" cy="135731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87" name="Text 84"/>
          <p:cNvSpPr/>
          <p:nvPr/>
        </p:nvSpPr>
        <p:spPr>
          <a:xfrm>
            <a:off x="3877661" y="4454128"/>
            <a:ext cx="4000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SESSÃO 3</a:t>
            </a:r>
            <a:endParaRPr lang="en-US" sz="516" dirty="0"/>
          </a:p>
        </p:txBody>
      </p:sp>
      <p:sp>
        <p:nvSpPr>
          <p:cNvPr id="88" name="Shape 85"/>
          <p:cNvSpPr/>
          <p:nvPr/>
        </p:nvSpPr>
        <p:spPr>
          <a:xfrm>
            <a:off x="3581195" y="4577358"/>
            <a:ext cx="992981" cy="191095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581195" y="4577358"/>
            <a:ext cx="992981" cy="19109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+ CSV + PDF</a:t>
            </a:r>
            <a:endParaRPr lang="en-US" sz="584" dirty="0"/>
          </a:p>
        </p:txBody>
      </p:sp>
      <p:sp>
        <p:nvSpPr>
          <p:cNvPr id="90" name="Text 87"/>
          <p:cNvSpPr/>
          <p:nvPr/>
        </p:nvSpPr>
        <p:spPr>
          <a:xfrm>
            <a:off x="4577748" y="4579144"/>
            <a:ext cx="145749" cy="135731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91" name="Text 88"/>
          <p:cNvSpPr/>
          <p:nvPr/>
        </p:nvSpPr>
        <p:spPr>
          <a:xfrm>
            <a:off x="5023535" y="4454128"/>
            <a:ext cx="4000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SESSÃO 4</a:t>
            </a:r>
            <a:endParaRPr lang="en-US" sz="516" dirty="0"/>
          </a:p>
        </p:txBody>
      </p:sp>
      <p:sp>
        <p:nvSpPr>
          <p:cNvPr id="92" name="Shape 89"/>
          <p:cNvSpPr/>
          <p:nvPr/>
        </p:nvSpPr>
        <p:spPr>
          <a:xfrm>
            <a:off x="4765467" y="4577358"/>
            <a:ext cx="916186" cy="191095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765467" y="4577358"/>
            <a:ext cx="916186" cy="19109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+ Histórico</a:t>
            </a:r>
            <a:endParaRPr lang="en-US" sz="584" dirty="0"/>
          </a:p>
        </p:txBody>
      </p:sp>
      <p:sp>
        <p:nvSpPr>
          <p:cNvPr id="94" name="Text 91"/>
          <p:cNvSpPr/>
          <p:nvPr/>
        </p:nvSpPr>
        <p:spPr>
          <a:xfrm>
            <a:off x="5723623" y="4579144"/>
            <a:ext cx="145749" cy="135731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727" dirty="0"/>
          </a:p>
        </p:txBody>
      </p:sp>
      <p:sp>
        <p:nvSpPr>
          <p:cNvPr id="95" name="Text 92"/>
          <p:cNvSpPr/>
          <p:nvPr/>
        </p:nvSpPr>
        <p:spPr>
          <a:xfrm>
            <a:off x="6176553" y="4454128"/>
            <a:ext cx="50006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SESSÃO 5–6</a:t>
            </a:r>
            <a:endParaRPr lang="en-US" sz="516" dirty="0"/>
          </a:p>
        </p:txBody>
      </p:sp>
      <p:sp>
        <p:nvSpPr>
          <p:cNvPr id="96" name="Shape 93"/>
          <p:cNvSpPr/>
          <p:nvPr/>
        </p:nvSpPr>
        <p:spPr>
          <a:xfrm>
            <a:off x="5869372" y="4577358"/>
            <a:ext cx="1114425" cy="191095"/>
          </a:xfrm>
          <a:prstGeom prst="rect">
            <a:avLst/>
          </a:prstGeom>
          <a:solidFill>
            <a:srgbClr val="0D1117"/>
          </a:solidFill>
          <a:ln w="9144">
            <a:solidFill>
              <a:srgbClr val="21262D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869372" y="4577358"/>
            <a:ext cx="1114425" cy="19109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+ ML Avançado</a:t>
            </a:r>
            <a:endParaRPr lang="en-US" sz="584" dirty="0"/>
          </a:p>
        </p:txBody>
      </p:sp>
      <p:sp>
        <p:nvSpPr>
          <p:cNvPr id="98" name="Shape 95"/>
          <p:cNvSpPr/>
          <p:nvPr/>
        </p:nvSpPr>
        <p:spPr>
          <a:xfrm>
            <a:off x="0" y="4868466"/>
            <a:ext cx="914400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0" y="486846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0" name="Text 97"/>
          <p:cNvSpPr/>
          <p:nvPr/>
        </p:nvSpPr>
        <p:spPr>
          <a:xfrm>
            <a:off x="214313" y="4962227"/>
            <a:ext cx="150018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Divisão do Time</a:t>
            </a:r>
            <a:endParaRPr lang="en-US" sz="516" dirty="0"/>
          </a:p>
        </p:txBody>
      </p:sp>
      <p:sp>
        <p:nvSpPr>
          <p:cNvPr id="101" name="Text 98"/>
          <p:cNvSpPr/>
          <p:nvPr/>
        </p:nvSpPr>
        <p:spPr>
          <a:xfrm>
            <a:off x="7340203" y="4961334"/>
            <a:ext cx="137517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</a:t>
            </a:r>
            <a:r>
              <a:rPr lang="en-US" sz="534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integrantes</a:t>
            </a:r>
            <a:endParaRPr lang="en-US" sz="53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6484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71450"/>
            <a:ext cx="425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2" kern="0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18</a:t>
            </a:r>
            <a:endParaRPr lang="en-US" sz="568" dirty="0"/>
          </a:p>
        </p:txBody>
      </p:sp>
      <p:sp>
        <p:nvSpPr>
          <p:cNvPr id="6" name="Text 3"/>
          <p:cNvSpPr/>
          <p:nvPr/>
        </p:nvSpPr>
        <p:spPr>
          <a:xfrm>
            <a:off x="753666" y="128588"/>
            <a:ext cx="23074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e </a:t>
            </a:r>
            <a:r>
              <a:rPr lang="en-US" sz="109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600950" y="171450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0" y="446484"/>
            <a:ext cx="9144000" cy="353616"/>
          </a:xfrm>
          <a:prstGeom prst="rect">
            <a:avLst/>
          </a:prstGeom>
          <a:solidFill>
            <a:srgbClr val="3FB950">
              <a:alpha val="7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792956"/>
            <a:ext cx="9144000" cy="7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357188" y="532209"/>
            <a:ext cx="1428750" cy="175022"/>
          </a:xfrm>
          <a:prstGeom prst="rect">
            <a:avLst/>
          </a:prstGeom>
          <a:noFill/>
          <a:ln/>
        </p:spPr>
        <p:txBody>
          <a:bodyPr wrap="square" lIns="119126" tIns="34036" rIns="11912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PRONTO PARA PRODUÇÃO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1957388" y="563463"/>
            <a:ext cx="47988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 testes passando</a:t>
            </a:r>
            <a:r>
              <a:rPr lang="en-US" sz="67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acurácia ML 97% · &lt;200ms end-to-end · documentação completa · GitHub atualizado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357188" y="935831"/>
            <a:ext cx="84296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FOI ENTREGUE</a:t>
            </a:r>
            <a:endParaRPr lang="en-US" sz="516" dirty="0"/>
          </a:p>
        </p:txBody>
      </p:sp>
      <p:sp>
        <p:nvSpPr>
          <p:cNvPr id="13" name="Shape 10"/>
          <p:cNvSpPr/>
          <p:nvPr/>
        </p:nvSpPr>
        <p:spPr>
          <a:xfrm>
            <a:off x="357188" y="1130498"/>
            <a:ext cx="2752716" cy="9300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8" y="1130498"/>
            <a:ext cx="2752716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88" y="1230511"/>
            <a:ext cx="25241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Completa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64356" y="1409105"/>
            <a:ext cx="221277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funcionalidades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entregues em 6 sessões iterativas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64356" y="1557672"/>
            <a:ext cx="213776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JWT, RBAC user/admin, proteção IDOR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64356" y="1706240"/>
            <a:ext cx="213062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Busca, filtros, histórico, status, exportação PDF/CSV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3195628" y="1130498"/>
            <a:ext cx="2752716" cy="9300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7"/>
          <p:cNvSpPr/>
          <p:nvPr/>
        </p:nvSpPr>
        <p:spPr>
          <a:xfrm>
            <a:off x="3195628" y="1130498"/>
            <a:ext cx="2752716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21" name="Text 18"/>
          <p:cNvSpPr/>
          <p:nvPr/>
        </p:nvSpPr>
        <p:spPr>
          <a:xfrm>
            <a:off x="3309928" y="1230511"/>
            <a:ext cx="25241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Integrado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3402797" y="1409105"/>
            <a:ext cx="233957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 de acurácia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TF-IDF + Naive Bayes (meta: 90%)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3402797" y="1557672"/>
            <a:ext cx="220920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Retreinamento dinâmico com dados reais de produção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402797" y="1706240"/>
            <a:ext cx="201275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 em &lt;200ms end-to-end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6034069" y="1130498"/>
            <a:ext cx="2752744" cy="930027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3"/>
          <p:cNvSpPr/>
          <p:nvPr/>
        </p:nvSpPr>
        <p:spPr>
          <a:xfrm>
            <a:off x="6034069" y="1130498"/>
            <a:ext cx="2752744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4"/>
          <p:cNvSpPr/>
          <p:nvPr/>
        </p:nvSpPr>
        <p:spPr>
          <a:xfrm>
            <a:off x="6148369" y="1230511"/>
            <a:ext cx="25241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e Documentação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241238" y="1409105"/>
            <a:ext cx="238779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 testes</a:t>
            </a: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11 arquivos · 100% pass rate · zero erros TS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6241238" y="1557672"/>
            <a:ext cx="24312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README + manual do usuário + manual de implantação (PDF)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6241238" y="1826233"/>
            <a:ext cx="223956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 de arquitetura · histórico completo no GitHub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357188" y="2160538"/>
            <a:ext cx="842962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PRÓXIMOS PASSOS</a:t>
            </a:r>
            <a:endParaRPr lang="en-US" sz="516" dirty="0"/>
          </a:p>
        </p:txBody>
      </p:sp>
      <p:sp>
        <p:nvSpPr>
          <p:cNvPr id="32" name="Shape 29"/>
          <p:cNvSpPr/>
          <p:nvPr/>
        </p:nvSpPr>
        <p:spPr>
          <a:xfrm>
            <a:off x="357188" y="2355205"/>
            <a:ext cx="1628775" cy="7872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0"/>
          <p:cNvSpPr/>
          <p:nvPr/>
        </p:nvSpPr>
        <p:spPr>
          <a:xfrm>
            <a:off x="357188" y="2355205"/>
            <a:ext cx="16287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2440930"/>
            <a:ext cx="1428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01</a:t>
            </a:r>
            <a:endParaRPr lang="en-US" sz="516" dirty="0"/>
          </a:p>
        </p:txBody>
      </p:sp>
      <p:sp>
        <p:nvSpPr>
          <p:cNvPr id="35" name="Text 32"/>
          <p:cNvSpPr/>
          <p:nvPr/>
        </p:nvSpPr>
        <p:spPr>
          <a:xfrm>
            <a:off x="457200" y="2571304"/>
            <a:ext cx="1428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 WebSocket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457200" y="2712393"/>
            <a:ext cx="1428750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em tempo real quando admin altera status ou reclassifica incidente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2057400" y="2355205"/>
            <a:ext cx="1628775" cy="7872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Shape 35"/>
          <p:cNvSpPr/>
          <p:nvPr/>
        </p:nvSpPr>
        <p:spPr>
          <a:xfrm>
            <a:off x="2057400" y="2355205"/>
            <a:ext cx="16287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39" name="Text 36"/>
          <p:cNvSpPr/>
          <p:nvPr/>
        </p:nvSpPr>
        <p:spPr>
          <a:xfrm>
            <a:off x="2157413" y="2440930"/>
            <a:ext cx="1428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02</a:t>
            </a:r>
            <a:endParaRPr lang="en-US" sz="516" dirty="0"/>
          </a:p>
        </p:txBody>
      </p:sp>
      <p:sp>
        <p:nvSpPr>
          <p:cNvPr id="40" name="Text 37"/>
          <p:cNvSpPr/>
          <p:nvPr/>
        </p:nvSpPr>
        <p:spPr>
          <a:xfrm>
            <a:off x="2157413" y="2571304"/>
            <a:ext cx="1428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Dashboard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2157413" y="2712393"/>
            <a:ext cx="1428750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 de resolução por categoria, taxa de resolução, gráfico de tendência</a:t>
            </a:r>
            <a:endParaRPr lang="en-US" sz="568" dirty="0"/>
          </a:p>
        </p:txBody>
      </p:sp>
      <p:sp>
        <p:nvSpPr>
          <p:cNvPr id="42" name="Shape 39"/>
          <p:cNvSpPr/>
          <p:nvPr/>
        </p:nvSpPr>
        <p:spPr>
          <a:xfrm>
            <a:off x="3757613" y="2355205"/>
            <a:ext cx="1628775" cy="7872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Shape 40"/>
          <p:cNvSpPr/>
          <p:nvPr/>
        </p:nvSpPr>
        <p:spPr>
          <a:xfrm>
            <a:off x="3757613" y="2355205"/>
            <a:ext cx="16287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44" name="Text 41"/>
          <p:cNvSpPr/>
          <p:nvPr/>
        </p:nvSpPr>
        <p:spPr>
          <a:xfrm>
            <a:off x="3857625" y="2440930"/>
            <a:ext cx="1428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03</a:t>
            </a:r>
            <a:endParaRPr lang="en-US" sz="516" dirty="0"/>
          </a:p>
        </p:txBody>
      </p:sp>
      <p:sp>
        <p:nvSpPr>
          <p:cNvPr id="45" name="Text 42"/>
          <p:cNvSpPr/>
          <p:nvPr/>
        </p:nvSpPr>
        <p:spPr>
          <a:xfrm>
            <a:off x="3857625" y="2571304"/>
            <a:ext cx="1428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SIEM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3857625" y="2712393"/>
            <a:ext cx="1428750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para Splunk/Elastic via webhook — correlação com outros sistemas</a:t>
            </a:r>
            <a:endParaRPr lang="en-US" sz="568" dirty="0"/>
          </a:p>
        </p:txBody>
      </p:sp>
      <p:sp>
        <p:nvSpPr>
          <p:cNvPr id="47" name="Shape 44"/>
          <p:cNvSpPr/>
          <p:nvPr/>
        </p:nvSpPr>
        <p:spPr>
          <a:xfrm>
            <a:off x="5457825" y="2355205"/>
            <a:ext cx="1628775" cy="7872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Shape 45"/>
          <p:cNvSpPr/>
          <p:nvPr/>
        </p:nvSpPr>
        <p:spPr>
          <a:xfrm>
            <a:off x="5457825" y="2355205"/>
            <a:ext cx="16287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49" name="Text 46"/>
          <p:cNvSpPr/>
          <p:nvPr/>
        </p:nvSpPr>
        <p:spPr>
          <a:xfrm>
            <a:off x="5557838" y="2440930"/>
            <a:ext cx="1428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04</a:t>
            </a:r>
            <a:endParaRPr lang="en-US" sz="516" dirty="0"/>
          </a:p>
        </p:txBody>
      </p:sp>
      <p:sp>
        <p:nvSpPr>
          <p:cNvPr id="50" name="Text 47"/>
          <p:cNvSpPr/>
          <p:nvPr/>
        </p:nvSpPr>
        <p:spPr>
          <a:xfrm>
            <a:off x="5557838" y="2571304"/>
            <a:ext cx="1428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Histórico CSV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5557838" y="2712393"/>
            <a:ext cx="1428750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do log completo de alterações de um incidente em formato planilha</a:t>
            </a:r>
            <a:endParaRPr lang="en-US" sz="568" dirty="0"/>
          </a:p>
        </p:txBody>
      </p:sp>
      <p:sp>
        <p:nvSpPr>
          <p:cNvPr id="52" name="Shape 49"/>
          <p:cNvSpPr/>
          <p:nvPr/>
        </p:nvSpPr>
        <p:spPr>
          <a:xfrm>
            <a:off x="7158038" y="2355205"/>
            <a:ext cx="1628775" cy="7872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3" name="Shape 50"/>
          <p:cNvSpPr/>
          <p:nvPr/>
        </p:nvSpPr>
        <p:spPr>
          <a:xfrm>
            <a:off x="7158038" y="2355205"/>
            <a:ext cx="1628775" cy="14288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54" name="Text 51"/>
          <p:cNvSpPr/>
          <p:nvPr/>
        </p:nvSpPr>
        <p:spPr>
          <a:xfrm>
            <a:off x="7258050" y="2440930"/>
            <a:ext cx="142875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2" kern="0" dirty="0">
                <a:solidFill>
                  <a:srgbClr val="FF8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05</a:t>
            </a:r>
            <a:endParaRPr lang="en-US" sz="516" dirty="0"/>
          </a:p>
        </p:txBody>
      </p:sp>
      <p:sp>
        <p:nvSpPr>
          <p:cNvPr id="55" name="Text 52"/>
          <p:cNvSpPr/>
          <p:nvPr/>
        </p:nvSpPr>
        <p:spPr>
          <a:xfrm>
            <a:off x="7258050" y="2571304"/>
            <a:ext cx="14287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(2FA)</a:t>
            </a:r>
            <a:endParaRPr lang="en-US" sz="634" dirty="0"/>
          </a:p>
        </p:txBody>
      </p:sp>
      <p:sp>
        <p:nvSpPr>
          <p:cNvPr id="56" name="Text 53"/>
          <p:cNvSpPr/>
          <p:nvPr/>
        </p:nvSpPr>
        <p:spPr>
          <a:xfrm>
            <a:off x="7258050" y="2712393"/>
            <a:ext cx="1428750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multifator com TOTP (Google Authenticator) para perfis admin</a:t>
            </a:r>
            <a:endParaRPr lang="en-US" sz="568" dirty="0"/>
          </a:p>
        </p:txBody>
      </p:sp>
      <p:sp>
        <p:nvSpPr>
          <p:cNvPr id="57" name="Shape 54"/>
          <p:cNvSpPr/>
          <p:nvPr/>
        </p:nvSpPr>
        <p:spPr>
          <a:xfrm>
            <a:off x="0" y="4595217"/>
            <a:ext cx="9144000" cy="54828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Shape 55"/>
          <p:cNvSpPr/>
          <p:nvPr/>
        </p:nvSpPr>
        <p:spPr>
          <a:xfrm>
            <a:off x="0" y="4595217"/>
            <a:ext cx="9144000" cy="14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9" name="Text 56"/>
          <p:cNvSpPr/>
          <p:nvPr/>
        </p:nvSpPr>
        <p:spPr>
          <a:xfrm>
            <a:off x="357188" y="4723805"/>
            <a:ext cx="17180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pela </a:t>
            </a:r>
            <a:r>
              <a:rPr lang="en-US" sz="98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atenção!</a:t>
            </a:r>
            <a:endParaRPr lang="en-US" sz="987" dirty="0"/>
          </a:p>
        </p:txBody>
      </p:sp>
      <p:sp>
        <p:nvSpPr>
          <p:cNvPr id="60" name="Text 57"/>
          <p:cNvSpPr/>
          <p:nvPr/>
        </p:nvSpPr>
        <p:spPr>
          <a:xfrm>
            <a:off x="357188" y="4925616"/>
            <a:ext cx="17180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Perguntas e discussões são bem-vindas</a:t>
            </a:r>
            <a:endParaRPr lang="en-US" sz="568" dirty="0"/>
          </a:p>
        </p:txBody>
      </p:sp>
      <p:sp>
        <p:nvSpPr>
          <p:cNvPr id="61" name="Text 58"/>
          <p:cNvSpPr/>
          <p:nvPr/>
        </p:nvSpPr>
        <p:spPr>
          <a:xfrm>
            <a:off x="7199114" y="4754166"/>
            <a:ext cx="158769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Margefson · Nattan · Keven · Josias</a:t>
            </a:r>
            <a:endParaRPr lang="en-US" sz="634" dirty="0"/>
          </a:p>
        </p:txBody>
      </p:sp>
      <p:sp>
        <p:nvSpPr>
          <p:cNvPr id="62" name="Text 59"/>
          <p:cNvSpPr/>
          <p:nvPr/>
        </p:nvSpPr>
        <p:spPr>
          <a:xfrm>
            <a:off x="5443538" y="4895255"/>
            <a:ext cx="33432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036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INCIDENT_SYS · 2025/2026 · github.com/margefson/incident_security_system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2026-04-07T23:34:54Z</dcterms:created>
  <dcterms:modified xsi:type="dcterms:W3CDTF">2026-04-07T23:34:54Z</dcterms:modified>
</cp:coreProperties>
</file>